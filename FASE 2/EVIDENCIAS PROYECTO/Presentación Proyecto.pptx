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Bree Serif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Canva Sans Italics" panose="020B0604020202020204" charset="0"/>
      <p:regular r:id="rId22"/>
    </p:embeddedFont>
    <p:embeddedFont>
      <p:font typeface="League Spartan" panose="020B0604020202020204" charset="0"/>
      <p:regular r:id="rId23"/>
    </p:embeddedFont>
    <p:embeddedFont>
      <p:font typeface="Luducudu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3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.sv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drive/folders/1prFhiU-zuJ8utc8j_USGXN2LaOIBCvQD?usp=drive_link" TargetMode="External"/><Relationship Id="rId5" Type="http://schemas.openxmlformats.org/officeDocument/2006/relationships/hyperlink" Target="https://github.com/nicolenavarrorojas/CultureGo" TargetMode="External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82085" y="-558745"/>
            <a:ext cx="11133634" cy="11404491"/>
          </a:xfrm>
          <a:custGeom>
            <a:avLst/>
            <a:gdLst/>
            <a:ahLst/>
            <a:cxnLst/>
            <a:rect l="l" t="t" r="r" b="b"/>
            <a:pathLst>
              <a:path w="11133634" h="11404491">
                <a:moveTo>
                  <a:pt x="0" y="0"/>
                </a:moveTo>
                <a:lnTo>
                  <a:pt x="11133634" y="0"/>
                </a:lnTo>
                <a:lnTo>
                  <a:pt x="11133634" y="11404490"/>
                </a:lnTo>
                <a:lnTo>
                  <a:pt x="0" y="11404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574757" y="5314309"/>
            <a:ext cx="5960089" cy="2132364"/>
            <a:chOff x="0" y="0"/>
            <a:chExt cx="1569735" cy="5616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9735" cy="561610"/>
            </a:xfrm>
            <a:custGeom>
              <a:avLst/>
              <a:gdLst/>
              <a:ahLst/>
              <a:cxnLst/>
              <a:rect l="l" t="t" r="r" b="b"/>
              <a:pathLst>
                <a:path w="1569735" h="561610">
                  <a:moveTo>
                    <a:pt x="84432" y="0"/>
                  </a:moveTo>
                  <a:lnTo>
                    <a:pt x="1485303" y="0"/>
                  </a:lnTo>
                  <a:cubicBezTo>
                    <a:pt x="1531934" y="0"/>
                    <a:pt x="1569735" y="37802"/>
                    <a:pt x="1569735" y="84432"/>
                  </a:cubicBezTo>
                  <a:lnTo>
                    <a:pt x="1569735" y="477178"/>
                  </a:lnTo>
                  <a:cubicBezTo>
                    <a:pt x="1569735" y="523809"/>
                    <a:pt x="1531934" y="561610"/>
                    <a:pt x="1485303" y="561610"/>
                  </a:cubicBezTo>
                  <a:lnTo>
                    <a:pt x="84432" y="561610"/>
                  </a:lnTo>
                  <a:cubicBezTo>
                    <a:pt x="37802" y="561610"/>
                    <a:pt x="0" y="523809"/>
                    <a:pt x="0" y="477178"/>
                  </a:cubicBezTo>
                  <a:lnTo>
                    <a:pt x="0" y="84432"/>
                  </a:lnTo>
                  <a:cubicBezTo>
                    <a:pt x="0" y="37802"/>
                    <a:pt x="37802" y="0"/>
                    <a:pt x="84432" y="0"/>
                  </a:cubicBezTo>
                  <a:close/>
                </a:path>
              </a:pathLst>
            </a:custGeom>
            <a:solidFill>
              <a:srgbClr val="7E659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9735" cy="599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488021" flipV="1">
            <a:off x="-162345" y="1386727"/>
            <a:ext cx="5219377" cy="2226934"/>
          </a:xfrm>
          <a:custGeom>
            <a:avLst/>
            <a:gdLst/>
            <a:ahLst/>
            <a:cxnLst/>
            <a:rect l="l" t="t" r="r" b="b"/>
            <a:pathLst>
              <a:path w="5219377" h="2226934">
                <a:moveTo>
                  <a:pt x="0" y="2226934"/>
                </a:moveTo>
                <a:lnTo>
                  <a:pt x="5219377" y="2226934"/>
                </a:lnTo>
                <a:lnTo>
                  <a:pt x="5219377" y="0"/>
                </a:lnTo>
                <a:lnTo>
                  <a:pt x="0" y="0"/>
                </a:lnTo>
                <a:lnTo>
                  <a:pt x="0" y="22269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flipV="1">
            <a:off x="-530870" y="8253967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flipV="1">
            <a:off x="-804583" y="901805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390555" y="3228737"/>
            <a:ext cx="10193607" cy="199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84"/>
              </a:lnSpc>
            </a:pPr>
            <a:r>
              <a:rPr lang="en-US" sz="14984" spc="-5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CultureGo</a:t>
            </a:r>
          </a:p>
        </p:txBody>
      </p:sp>
      <p:sp>
        <p:nvSpPr>
          <p:cNvPr id="12" name="Freeform 12"/>
          <p:cNvSpPr/>
          <p:nvPr/>
        </p:nvSpPr>
        <p:spPr>
          <a:xfrm>
            <a:off x="8831362" y="1542368"/>
            <a:ext cx="9323319" cy="7202264"/>
          </a:xfrm>
          <a:custGeom>
            <a:avLst/>
            <a:gdLst/>
            <a:ahLst/>
            <a:cxnLst/>
            <a:rect l="l" t="t" r="r" b="b"/>
            <a:pathLst>
              <a:path w="9323319" h="7202264">
                <a:moveTo>
                  <a:pt x="0" y="0"/>
                </a:moveTo>
                <a:lnTo>
                  <a:pt x="9323319" y="0"/>
                </a:lnTo>
                <a:lnTo>
                  <a:pt x="9323319" y="7202264"/>
                </a:lnTo>
                <a:lnTo>
                  <a:pt x="0" y="7202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390555" y="268134"/>
            <a:ext cx="3096110" cy="760566"/>
          </a:xfrm>
          <a:custGeom>
            <a:avLst/>
            <a:gdLst/>
            <a:ahLst/>
            <a:cxnLst/>
            <a:rect l="l" t="t" r="r" b="b"/>
            <a:pathLst>
              <a:path w="3096110" h="760566">
                <a:moveTo>
                  <a:pt x="0" y="0"/>
                </a:moveTo>
                <a:lnTo>
                  <a:pt x="3096110" y="0"/>
                </a:lnTo>
                <a:lnTo>
                  <a:pt x="3096110" y="760566"/>
                </a:lnTo>
                <a:lnTo>
                  <a:pt x="0" y="76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886964" y="5629603"/>
            <a:ext cx="5647882" cy="153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251">
                <a:solidFill>
                  <a:srgbClr val="FFFFFF"/>
                </a:solidFill>
                <a:latin typeface="Luducudu"/>
                <a:ea typeface="Luducudu"/>
                <a:cs typeface="Luducudu"/>
                <a:sym typeface="Luducudu"/>
              </a:rPr>
              <a:t>Benjamin gonzález</a:t>
            </a:r>
          </a:p>
          <a:p>
            <a:pPr algn="l">
              <a:lnSpc>
                <a:spcPts val="3999"/>
              </a:lnSpc>
            </a:pPr>
            <a:r>
              <a:rPr lang="en-US" sz="3999" spc="251">
                <a:solidFill>
                  <a:srgbClr val="FFFFFF"/>
                </a:solidFill>
                <a:latin typeface="Luducudu"/>
                <a:ea typeface="Luducudu"/>
                <a:cs typeface="Luducudu"/>
                <a:sym typeface="Luducudu"/>
              </a:rPr>
              <a:t>nicole navarro</a:t>
            </a:r>
          </a:p>
          <a:p>
            <a:pPr algn="l">
              <a:lnSpc>
                <a:spcPts val="3999"/>
              </a:lnSpc>
            </a:pPr>
            <a:r>
              <a:rPr lang="en-US" sz="3999" spc="251">
                <a:solidFill>
                  <a:srgbClr val="FFFFFF"/>
                </a:solidFill>
                <a:latin typeface="Luducudu"/>
                <a:ea typeface="Luducudu"/>
                <a:cs typeface="Luducudu"/>
                <a:sym typeface="Luducudu"/>
              </a:rPr>
              <a:t>Diana ávila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44586" y="9201150"/>
            <a:ext cx="7010094" cy="97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Asignatura</a:t>
            </a:r>
            <a:r>
              <a:rPr lang="en-US" sz="27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Capstone 003D</a:t>
            </a:r>
          </a:p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Docente</a:t>
            </a:r>
            <a:r>
              <a:rPr lang="en-US" sz="27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Cindy Contador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V="1">
            <a:off x="-804583" y="901805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560075" y="2428464"/>
            <a:ext cx="4748907" cy="7616519"/>
            <a:chOff x="0" y="0"/>
            <a:chExt cx="1348635" cy="21630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8635" cy="2163003"/>
            </a:xfrm>
            <a:custGeom>
              <a:avLst/>
              <a:gdLst/>
              <a:ahLst/>
              <a:cxnLst/>
              <a:rect l="l" t="t" r="r" b="b"/>
              <a:pathLst>
                <a:path w="1348635" h="2163003">
                  <a:moveTo>
                    <a:pt x="37496" y="0"/>
                  </a:moveTo>
                  <a:lnTo>
                    <a:pt x="1311139" y="0"/>
                  </a:lnTo>
                  <a:cubicBezTo>
                    <a:pt x="1321083" y="0"/>
                    <a:pt x="1330621" y="3950"/>
                    <a:pt x="1337652" y="10982"/>
                  </a:cubicBezTo>
                  <a:cubicBezTo>
                    <a:pt x="1344684" y="18014"/>
                    <a:pt x="1348635" y="27551"/>
                    <a:pt x="1348635" y="37496"/>
                  </a:cubicBezTo>
                  <a:lnTo>
                    <a:pt x="1348635" y="2125508"/>
                  </a:lnTo>
                  <a:cubicBezTo>
                    <a:pt x="1348635" y="2135452"/>
                    <a:pt x="1344684" y="2144989"/>
                    <a:pt x="1337652" y="2152021"/>
                  </a:cubicBezTo>
                  <a:cubicBezTo>
                    <a:pt x="1330621" y="2159053"/>
                    <a:pt x="1321083" y="2163003"/>
                    <a:pt x="1311139" y="2163003"/>
                  </a:cubicBezTo>
                  <a:lnTo>
                    <a:pt x="37496" y="2163003"/>
                  </a:lnTo>
                  <a:cubicBezTo>
                    <a:pt x="27551" y="2163003"/>
                    <a:pt x="18014" y="2159053"/>
                    <a:pt x="10982" y="2152021"/>
                  </a:cubicBezTo>
                  <a:cubicBezTo>
                    <a:pt x="3950" y="2144989"/>
                    <a:pt x="0" y="2135452"/>
                    <a:pt x="0" y="2125508"/>
                  </a:cubicBezTo>
                  <a:lnTo>
                    <a:pt x="0" y="37496"/>
                  </a:lnTo>
                  <a:cubicBezTo>
                    <a:pt x="0" y="27551"/>
                    <a:pt x="3950" y="18014"/>
                    <a:pt x="10982" y="10982"/>
                  </a:cubicBezTo>
                  <a:cubicBezTo>
                    <a:pt x="18014" y="3950"/>
                    <a:pt x="27551" y="0"/>
                    <a:pt x="37496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48635" cy="2201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74776" y="2428464"/>
            <a:ext cx="4748907" cy="7616519"/>
            <a:chOff x="0" y="0"/>
            <a:chExt cx="1348635" cy="2163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8635" cy="2163003"/>
            </a:xfrm>
            <a:custGeom>
              <a:avLst/>
              <a:gdLst/>
              <a:ahLst/>
              <a:cxnLst/>
              <a:rect l="l" t="t" r="r" b="b"/>
              <a:pathLst>
                <a:path w="1348635" h="2163003">
                  <a:moveTo>
                    <a:pt x="37496" y="0"/>
                  </a:moveTo>
                  <a:lnTo>
                    <a:pt x="1311139" y="0"/>
                  </a:lnTo>
                  <a:cubicBezTo>
                    <a:pt x="1321083" y="0"/>
                    <a:pt x="1330621" y="3950"/>
                    <a:pt x="1337652" y="10982"/>
                  </a:cubicBezTo>
                  <a:cubicBezTo>
                    <a:pt x="1344684" y="18014"/>
                    <a:pt x="1348635" y="27551"/>
                    <a:pt x="1348635" y="37496"/>
                  </a:cubicBezTo>
                  <a:lnTo>
                    <a:pt x="1348635" y="2125508"/>
                  </a:lnTo>
                  <a:cubicBezTo>
                    <a:pt x="1348635" y="2135452"/>
                    <a:pt x="1344684" y="2144989"/>
                    <a:pt x="1337652" y="2152021"/>
                  </a:cubicBezTo>
                  <a:cubicBezTo>
                    <a:pt x="1330621" y="2159053"/>
                    <a:pt x="1321083" y="2163003"/>
                    <a:pt x="1311139" y="2163003"/>
                  </a:cubicBezTo>
                  <a:lnTo>
                    <a:pt x="37496" y="2163003"/>
                  </a:lnTo>
                  <a:cubicBezTo>
                    <a:pt x="27551" y="2163003"/>
                    <a:pt x="18014" y="2159053"/>
                    <a:pt x="10982" y="2152021"/>
                  </a:cubicBezTo>
                  <a:cubicBezTo>
                    <a:pt x="3950" y="2144989"/>
                    <a:pt x="0" y="2135452"/>
                    <a:pt x="0" y="2125508"/>
                  </a:cubicBezTo>
                  <a:lnTo>
                    <a:pt x="0" y="37496"/>
                  </a:lnTo>
                  <a:cubicBezTo>
                    <a:pt x="0" y="27551"/>
                    <a:pt x="3950" y="18014"/>
                    <a:pt x="10982" y="10982"/>
                  </a:cubicBezTo>
                  <a:cubicBezTo>
                    <a:pt x="18014" y="3950"/>
                    <a:pt x="27551" y="0"/>
                    <a:pt x="37496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48635" cy="2201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83766" y="2428464"/>
            <a:ext cx="4748907" cy="7616519"/>
            <a:chOff x="0" y="0"/>
            <a:chExt cx="1348635" cy="2163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8635" cy="2163003"/>
            </a:xfrm>
            <a:custGeom>
              <a:avLst/>
              <a:gdLst/>
              <a:ahLst/>
              <a:cxnLst/>
              <a:rect l="l" t="t" r="r" b="b"/>
              <a:pathLst>
                <a:path w="1348635" h="2163003">
                  <a:moveTo>
                    <a:pt x="37496" y="0"/>
                  </a:moveTo>
                  <a:lnTo>
                    <a:pt x="1311139" y="0"/>
                  </a:lnTo>
                  <a:cubicBezTo>
                    <a:pt x="1321083" y="0"/>
                    <a:pt x="1330621" y="3950"/>
                    <a:pt x="1337652" y="10982"/>
                  </a:cubicBezTo>
                  <a:cubicBezTo>
                    <a:pt x="1344684" y="18014"/>
                    <a:pt x="1348635" y="27551"/>
                    <a:pt x="1348635" y="37496"/>
                  </a:cubicBezTo>
                  <a:lnTo>
                    <a:pt x="1348635" y="2125508"/>
                  </a:lnTo>
                  <a:cubicBezTo>
                    <a:pt x="1348635" y="2135452"/>
                    <a:pt x="1344684" y="2144989"/>
                    <a:pt x="1337652" y="2152021"/>
                  </a:cubicBezTo>
                  <a:cubicBezTo>
                    <a:pt x="1330621" y="2159053"/>
                    <a:pt x="1321083" y="2163003"/>
                    <a:pt x="1311139" y="2163003"/>
                  </a:cubicBezTo>
                  <a:lnTo>
                    <a:pt x="37496" y="2163003"/>
                  </a:lnTo>
                  <a:cubicBezTo>
                    <a:pt x="27551" y="2163003"/>
                    <a:pt x="18014" y="2159053"/>
                    <a:pt x="10982" y="2152021"/>
                  </a:cubicBezTo>
                  <a:cubicBezTo>
                    <a:pt x="3950" y="2144989"/>
                    <a:pt x="0" y="2135452"/>
                    <a:pt x="0" y="2125508"/>
                  </a:cubicBezTo>
                  <a:lnTo>
                    <a:pt x="0" y="37496"/>
                  </a:lnTo>
                  <a:cubicBezTo>
                    <a:pt x="0" y="27551"/>
                    <a:pt x="3950" y="18014"/>
                    <a:pt x="10982" y="10982"/>
                  </a:cubicBezTo>
                  <a:cubicBezTo>
                    <a:pt x="18014" y="3950"/>
                    <a:pt x="27551" y="0"/>
                    <a:pt x="37496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48635" cy="2201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26753" y="2620840"/>
            <a:ext cx="2862934" cy="2906532"/>
          </a:xfrm>
          <a:custGeom>
            <a:avLst/>
            <a:gdLst/>
            <a:ahLst/>
            <a:cxnLst/>
            <a:rect l="l" t="t" r="r" b="b"/>
            <a:pathLst>
              <a:path w="2862934" h="2906532">
                <a:moveTo>
                  <a:pt x="0" y="0"/>
                </a:moveTo>
                <a:lnTo>
                  <a:pt x="2862934" y="0"/>
                </a:lnTo>
                <a:lnTo>
                  <a:pt x="2862934" y="2906532"/>
                </a:lnTo>
                <a:lnTo>
                  <a:pt x="0" y="2906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7340210" y="2992607"/>
            <a:ext cx="3607580" cy="2534765"/>
          </a:xfrm>
          <a:custGeom>
            <a:avLst/>
            <a:gdLst/>
            <a:ahLst/>
            <a:cxnLst/>
            <a:rect l="l" t="t" r="r" b="b"/>
            <a:pathLst>
              <a:path w="3607580" h="2534765">
                <a:moveTo>
                  <a:pt x="0" y="0"/>
                </a:moveTo>
                <a:lnTo>
                  <a:pt x="3607580" y="0"/>
                </a:lnTo>
                <a:lnTo>
                  <a:pt x="3607580" y="2534765"/>
                </a:lnTo>
                <a:lnTo>
                  <a:pt x="0" y="253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586" r="-53345" b="-1781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2432522" y="3053737"/>
            <a:ext cx="2942079" cy="2412505"/>
          </a:xfrm>
          <a:custGeom>
            <a:avLst/>
            <a:gdLst/>
            <a:ahLst/>
            <a:cxnLst/>
            <a:rect l="l" t="t" r="r" b="b"/>
            <a:pathLst>
              <a:path w="2942079" h="2412505">
                <a:moveTo>
                  <a:pt x="0" y="0"/>
                </a:moveTo>
                <a:lnTo>
                  <a:pt x="2942079" y="0"/>
                </a:lnTo>
                <a:lnTo>
                  <a:pt x="2942079" y="2412505"/>
                </a:lnTo>
                <a:lnTo>
                  <a:pt x="0" y="24125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2055011" y="5951914"/>
            <a:ext cx="3607580" cy="207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6.004.567 Turistas internacionales visitaron Chile en 2025, Santiago como uno de los principales destinos.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09963" y="5951914"/>
            <a:ext cx="3607580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Santiago destaca como uno de los mejores destinos urbanos de Sudamérica gracias a su combinación de modernidad, naturaleza y cultura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81430" y="1816314"/>
            <a:ext cx="335358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</a:t>
            </a:r>
            <a:r>
              <a:rPr lang="en-US" sz="2799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ué ocurre?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5284" y="1341862"/>
            <a:ext cx="4943303" cy="70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1"/>
              </a:lnSpc>
            </a:pPr>
            <a:r>
              <a:rPr lang="en-US" sz="5475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contexto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16556" y="9229725"/>
            <a:ext cx="357401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Fuente: Subsecretaría de Turismo, 2026.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27919" y="5951914"/>
            <a:ext cx="3607580" cy="374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Las plataformas actuales tienden a mostrar los atractivos </a:t>
            </a: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más populares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dificultando que turistas y residentes descubran alternativas culturales menos conocidas.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56995" y="9300904"/>
            <a:ext cx="357401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Fuente: Subsecretaría de Turismo,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V="1">
            <a:off x="-804583" y="901805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0299873" y="5143500"/>
            <a:ext cx="5617221" cy="4269088"/>
          </a:xfrm>
          <a:custGeom>
            <a:avLst/>
            <a:gdLst/>
            <a:ahLst/>
            <a:cxnLst/>
            <a:rect l="l" t="t" r="r" b="b"/>
            <a:pathLst>
              <a:path w="5617221" h="4269088">
                <a:moveTo>
                  <a:pt x="0" y="0"/>
                </a:moveTo>
                <a:lnTo>
                  <a:pt x="5617221" y="0"/>
                </a:lnTo>
                <a:lnTo>
                  <a:pt x="5617221" y="4269088"/>
                </a:lnTo>
                <a:lnTo>
                  <a:pt x="0" y="4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617704" y="3184856"/>
            <a:ext cx="15052592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Turistas y residentes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 Santiago tienen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dificultad para encontrar atractivos culturales distintos a los lugares habituales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 aparecen en las plataformas actuales, cuya información es genérica y repetitiva.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7704" y="2354061"/>
            <a:ext cx="4943303" cy="70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1"/>
              </a:lnSpc>
            </a:pPr>
            <a:r>
              <a:rPr lang="en-US" sz="5475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problema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7704" y="5133781"/>
            <a:ext cx="6271797" cy="70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1"/>
              </a:lnSpc>
            </a:pPr>
            <a:r>
              <a:rPr lang="en-US" sz="5475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usuarios afectados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7704" y="6067665"/>
            <a:ext cx="7279485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Turistas que visitan Santiago, residentes y pequeños espacios culturales con baja visibilidad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79516" y="1133475"/>
            <a:ext cx="7928967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5600" b="1" u="none" strike="noStrike" spc="-2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problema existe?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-2159340" y="8482149"/>
            <a:ext cx="5992900" cy="3301978"/>
            <a:chOff x="0" y="0"/>
            <a:chExt cx="7990534" cy="4402637"/>
          </a:xfrm>
        </p:grpSpPr>
        <p:sp>
          <p:nvSpPr>
            <p:cNvPr id="5" name="Freeform 5"/>
            <p:cNvSpPr/>
            <p:nvPr/>
          </p:nvSpPr>
          <p:spPr>
            <a:xfrm flipV="1">
              <a:off x="364951" y="0"/>
              <a:ext cx="7625583" cy="3383852"/>
            </a:xfrm>
            <a:custGeom>
              <a:avLst/>
              <a:gdLst/>
              <a:ahLst/>
              <a:cxnLst/>
              <a:rect l="l" t="t" r="r" b="b"/>
              <a:pathLst>
                <a:path w="7625583" h="3383852">
                  <a:moveTo>
                    <a:pt x="0" y="3383852"/>
                  </a:moveTo>
                  <a:lnTo>
                    <a:pt x="7625583" y="3383852"/>
                  </a:lnTo>
                  <a:lnTo>
                    <a:pt x="7625583" y="0"/>
                  </a:lnTo>
                  <a:lnTo>
                    <a:pt x="0" y="0"/>
                  </a:lnTo>
                  <a:lnTo>
                    <a:pt x="0" y="33838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 flipV="1">
              <a:off x="0" y="1018784"/>
              <a:ext cx="7625583" cy="3383852"/>
            </a:xfrm>
            <a:custGeom>
              <a:avLst/>
              <a:gdLst/>
              <a:ahLst/>
              <a:cxnLst/>
              <a:rect l="l" t="t" r="r" b="b"/>
              <a:pathLst>
                <a:path w="7625583" h="3383852">
                  <a:moveTo>
                    <a:pt x="0" y="3383853"/>
                  </a:moveTo>
                  <a:lnTo>
                    <a:pt x="7625583" y="3383853"/>
                  </a:lnTo>
                  <a:lnTo>
                    <a:pt x="7625583" y="0"/>
                  </a:lnTo>
                  <a:lnTo>
                    <a:pt x="0" y="0"/>
                  </a:lnTo>
                  <a:lnTo>
                    <a:pt x="0" y="3383853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608405"/>
            <a:ext cx="9307143" cy="905344"/>
            <a:chOff x="0" y="0"/>
            <a:chExt cx="12409525" cy="120712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2409525" cy="1207125"/>
              <a:chOff x="0" y="0"/>
              <a:chExt cx="5232970" cy="50903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232970" cy="509032"/>
              </a:xfrm>
              <a:custGeom>
                <a:avLst/>
                <a:gdLst/>
                <a:ahLst/>
                <a:cxnLst/>
                <a:rect l="l" t="t" r="r" b="b"/>
                <a:pathLst>
                  <a:path w="5232970" h="509032">
                    <a:moveTo>
                      <a:pt x="13524" y="0"/>
                    </a:moveTo>
                    <a:lnTo>
                      <a:pt x="5219446" y="0"/>
                    </a:lnTo>
                    <a:cubicBezTo>
                      <a:pt x="5223032" y="0"/>
                      <a:pt x="5226472" y="1425"/>
                      <a:pt x="5229009" y="3961"/>
                    </a:cubicBezTo>
                    <a:cubicBezTo>
                      <a:pt x="5231545" y="6497"/>
                      <a:pt x="5232970" y="9937"/>
                      <a:pt x="5232970" y="13524"/>
                    </a:cubicBezTo>
                    <a:lnTo>
                      <a:pt x="5232970" y="495508"/>
                    </a:lnTo>
                    <a:cubicBezTo>
                      <a:pt x="5232970" y="499095"/>
                      <a:pt x="5231545" y="502535"/>
                      <a:pt x="5229009" y="505071"/>
                    </a:cubicBezTo>
                    <a:cubicBezTo>
                      <a:pt x="5226472" y="507607"/>
                      <a:pt x="5223032" y="509032"/>
                      <a:pt x="5219446" y="509032"/>
                    </a:cubicBezTo>
                    <a:lnTo>
                      <a:pt x="13524" y="509032"/>
                    </a:lnTo>
                    <a:cubicBezTo>
                      <a:pt x="9937" y="509032"/>
                      <a:pt x="6497" y="507607"/>
                      <a:pt x="3961" y="505071"/>
                    </a:cubicBezTo>
                    <a:cubicBezTo>
                      <a:pt x="1425" y="502535"/>
                      <a:pt x="0" y="499095"/>
                      <a:pt x="0" y="495508"/>
                    </a:cubicBezTo>
                    <a:lnTo>
                      <a:pt x="0" y="13524"/>
                    </a:lnTo>
                    <a:cubicBezTo>
                      <a:pt x="0" y="9937"/>
                      <a:pt x="1425" y="6497"/>
                      <a:pt x="3961" y="3961"/>
                    </a:cubicBezTo>
                    <a:cubicBezTo>
                      <a:pt x="6497" y="1425"/>
                      <a:pt x="9937" y="0"/>
                      <a:pt x="13524" y="0"/>
                    </a:cubicBezTo>
                    <a:close/>
                  </a:path>
                </a:pathLst>
              </a:custGeom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5232970" cy="5280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7567" y="165829"/>
              <a:ext cx="12334390" cy="449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  <a:spcBef>
                  <a:spcPct val="0"/>
                </a:spcBef>
              </a:pPr>
              <a:r>
                <a:rPr lang="en-US" sz="2400" b="1" u="none" strike="noStrike" spc="-9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Catálogo de atractivos (filtrable por tipo, comuna y gratuidad)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185551"/>
            <a:ext cx="9249163" cy="615822"/>
            <a:chOff x="0" y="0"/>
            <a:chExt cx="12332217" cy="82109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2332217" cy="821096"/>
              <a:chOff x="0" y="0"/>
              <a:chExt cx="5200370" cy="34624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200370" cy="346248"/>
              </a:xfrm>
              <a:custGeom>
                <a:avLst/>
                <a:gdLst/>
                <a:ahLst/>
                <a:cxnLst/>
                <a:rect l="l" t="t" r="r" b="b"/>
                <a:pathLst>
                  <a:path w="5200370" h="346248">
                    <a:moveTo>
                      <a:pt x="13609" y="0"/>
                    </a:moveTo>
                    <a:lnTo>
                      <a:pt x="5186761" y="0"/>
                    </a:lnTo>
                    <a:cubicBezTo>
                      <a:pt x="5190370" y="0"/>
                      <a:pt x="5193832" y="1434"/>
                      <a:pt x="5196384" y="3986"/>
                    </a:cubicBezTo>
                    <a:cubicBezTo>
                      <a:pt x="5198936" y="6538"/>
                      <a:pt x="5200370" y="10000"/>
                      <a:pt x="5200370" y="13609"/>
                    </a:cubicBezTo>
                    <a:lnTo>
                      <a:pt x="5200370" y="332639"/>
                    </a:lnTo>
                    <a:cubicBezTo>
                      <a:pt x="5200370" y="340155"/>
                      <a:pt x="5194277" y="346248"/>
                      <a:pt x="5186761" y="346248"/>
                    </a:cubicBezTo>
                    <a:lnTo>
                      <a:pt x="13609" y="346248"/>
                    </a:lnTo>
                    <a:cubicBezTo>
                      <a:pt x="10000" y="346248"/>
                      <a:pt x="6538" y="344814"/>
                      <a:pt x="3986" y="342262"/>
                    </a:cubicBezTo>
                    <a:cubicBezTo>
                      <a:pt x="1434" y="339710"/>
                      <a:pt x="0" y="336248"/>
                      <a:pt x="0" y="332639"/>
                    </a:cubicBezTo>
                    <a:lnTo>
                      <a:pt x="0" y="13609"/>
                    </a:lnTo>
                    <a:cubicBezTo>
                      <a:pt x="0" y="10000"/>
                      <a:pt x="1434" y="6538"/>
                      <a:pt x="3986" y="3986"/>
                    </a:cubicBezTo>
                    <a:cubicBezTo>
                      <a:pt x="6538" y="1434"/>
                      <a:pt x="10000" y="0"/>
                      <a:pt x="13609" y="0"/>
                    </a:cubicBezTo>
                    <a:close/>
                  </a:path>
                </a:pathLst>
              </a:custGeom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5200370" cy="3652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7333" y="165829"/>
              <a:ext cx="12257550" cy="449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  <a:spcBef>
                  <a:spcPct val="0"/>
                </a:spcBef>
              </a:pPr>
              <a:r>
                <a:rPr lang="en-US" sz="2400" b="1" u="none" strike="noStrike" spc="-9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Mapa interactivo con geolocalización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6762697"/>
            <a:ext cx="9249163" cy="615822"/>
            <a:chOff x="0" y="0"/>
            <a:chExt cx="12332217" cy="821096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2332217" cy="821096"/>
              <a:chOff x="0" y="0"/>
              <a:chExt cx="5200370" cy="34624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200370" cy="346248"/>
              </a:xfrm>
              <a:custGeom>
                <a:avLst/>
                <a:gdLst/>
                <a:ahLst/>
                <a:cxnLst/>
                <a:rect l="l" t="t" r="r" b="b"/>
                <a:pathLst>
                  <a:path w="5200370" h="346248">
                    <a:moveTo>
                      <a:pt x="13609" y="0"/>
                    </a:moveTo>
                    <a:lnTo>
                      <a:pt x="5186761" y="0"/>
                    </a:lnTo>
                    <a:cubicBezTo>
                      <a:pt x="5190370" y="0"/>
                      <a:pt x="5193832" y="1434"/>
                      <a:pt x="5196384" y="3986"/>
                    </a:cubicBezTo>
                    <a:cubicBezTo>
                      <a:pt x="5198936" y="6538"/>
                      <a:pt x="5200370" y="10000"/>
                      <a:pt x="5200370" y="13609"/>
                    </a:cubicBezTo>
                    <a:lnTo>
                      <a:pt x="5200370" y="332639"/>
                    </a:lnTo>
                    <a:cubicBezTo>
                      <a:pt x="5200370" y="340155"/>
                      <a:pt x="5194277" y="346248"/>
                      <a:pt x="5186761" y="346248"/>
                    </a:cubicBezTo>
                    <a:lnTo>
                      <a:pt x="13609" y="346248"/>
                    </a:lnTo>
                    <a:cubicBezTo>
                      <a:pt x="10000" y="346248"/>
                      <a:pt x="6538" y="344814"/>
                      <a:pt x="3986" y="342262"/>
                    </a:cubicBezTo>
                    <a:cubicBezTo>
                      <a:pt x="1434" y="339710"/>
                      <a:pt x="0" y="336248"/>
                      <a:pt x="0" y="332639"/>
                    </a:cubicBezTo>
                    <a:lnTo>
                      <a:pt x="0" y="13609"/>
                    </a:lnTo>
                    <a:cubicBezTo>
                      <a:pt x="0" y="10000"/>
                      <a:pt x="1434" y="6538"/>
                      <a:pt x="3986" y="3986"/>
                    </a:cubicBezTo>
                    <a:cubicBezTo>
                      <a:pt x="6538" y="1434"/>
                      <a:pt x="10000" y="0"/>
                      <a:pt x="13609" y="0"/>
                    </a:cubicBezTo>
                    <a:close/>
                  </a:path>
                </a:pathLst>
              </a:custGeom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5200370" cy="3652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7333" y="165829"/>
              <a:ext cx="12257550" cy="449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  <a:spcBef>
                  <a:spcPct val="0"/>
                </a:spcBef>
              </a:pPr>
              <a:r>
                <a:rPr lang="en-US" sz="2400" b="1" u="none" strike="noStrike" spc="-9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Sistema de gamificación (mascota y medalla)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7339842"/>
            <a:ext cx="9249163" cy="615822"/>
            <a:chOff x="0" y="0"/>
            <a:chExt cx="12332217" cy="821096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2332217" cy="821096"/>
              <a:chOff x="0" y="0"/>
              <a:chExt cx="5200370" cy="34624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200370" cy="346248"/>
              </a:xfrm>
              <a:custGeom>
                <a:avLst/>
                <a:gdLst/>
                <a:ahLst/>
                <a:cxnLst/>
                <a:rect l="l" t="t" r="r" b="b"/>
                <a:pathLst>
                  <a:path w="5200370" h="346248">
                    <a:moveTo>
                      <a:pt x="13609" y="0"/>
                    </a:moveTo>
                    <a:lnTo>
                      <a:pt x="5186761" y="0"/>
                    </a:lnTo>
                    <a:cubicBezTo>
                      <a:pt x="5190370" y="0"/>
                      <a:pt x="5193832" y="1434"/>
                      <a:pt x="5196384" y="3986"/>
                    </a:cubicBezTo>
                    <a:cubicBezTo>
                      <a:pt x="5198936" y="6538"/>
                      <a:pt x="5200370" y="10000"/>
                      <a:pt x="5200370" y="13609"/>
                    </a:cubicBezTo>
                    <a:lnTo>
                      <a:pt x="5200370" y="332639"/>
                    </a:lnTo>
                    <a:cubicBezTo>
                      <a:pt x="5200370" y="340155"/>
                      <a:pt x="5194277" y="346248"/>
                      <a:pt x="5186761" y="346248"/>
                    </a:cubicBezTo>
                    <a:lnTo>
                      <a:pt x="13609" y="346248"/>
                    </a:lnTo>
                    <a:cubicBezTo>
                      <a:pt x="10000" y="346248"/>
                      <a:pt x="6538" y="344814"/>
                      <a:pt x="3986" y="342262"/>
                    </a:cubicBezTo>
                    <a:cubicBezTo>
                      <a:pt x="1434" y="339710"/>
                      <a:pt x="0" y="336248"/>
                      <a:pt x="0" y="332639"/>
                    </a:cubicBezTo>
                    <a:lnTo>
                      <a:pt x="0" y="13609"/>
                    </a:lnTo>
                    <a:cubicBezTo>
                      <a:pt x="0" y="10000"/>
                      <a:pt x="1434" y="6538"/>
                      <a:pt x="3986" y="3986"/>
                    </a:cubicBezTo>
                    <a:cubicBezTo>
                      <a:pt x="6538" y="1434"/>
                      <a:pt x="10000" y="0"/>
                      <a:pt x="13609" y="0"/>
                    </a:cubicBezTo>
                    <a:close/>
                  </a:path>
                </a:pathLst>
              </a:custGeom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5200370" cy="3652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7333" y="165829"/>
              <a:ext cx="12257550" cy="449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  <a:spcBef>
                  <a:spcPct val="0"/>
                </a:spcBef>
              </a:pPr>
              <a:r>
                <a:rPr lang="en-US" sz="2400" b="1" u="none" strike="noStrike" spc="-9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Gestión de usuarios (registro, login, perfil)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7916988"/>
            <a:ext cx="9249163" cy="615822"/>
            <a:chOff x="0" y="0"/>
            <a:chExt cx="12332217" cy="821096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2332217" cy="821096"/>
              <a:chOff x="0" y="0"/>
              <a:chExt cx="5200370" cy="34624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200370" cy="346248"/>
              </a:xfrm>
              <a:custGeom>
                <a:avLst/>
                <a:gdLst/>
                <a:ahLst/>
                <a:cxnLst/>
                <a:rect l="l" t="t" r="r" b="b"/>
                <a:pathLst>
                  <a:path w="5200370" h="346248">
                    <a:moveTo>
                      <a:pt x="13609" y="0"/>
                    </a:moveTo>
                    <a:lnTo>
                      <a:pt x="5186761" y="0"/>
                    </a:lnTo>
                    <a:cubicBezTo>
                      <a:pt x="5190370" y="0"/>
                      <a:pt x="5193832" y="1434"/>
                      <a:pt x="5196384" y="3986"/>
                    </a:cubicBezTo>
                    <a:cubicBezTo>
                      <a:pt x="5198936" y="6538"/>
                      <a:pt x="5200370" y="10000"/>
                      <a:pt x="5200370" y="13609"/>
                    </a:cubicBezTo>
                    <a:lnTo>
                      <a:pt x="5200370" y="332639"/>
                    </a:lnTo>
                    <a:cubicBezTo>
                      <a:pt x="5200370" y="340155"/>
                      <a:pt x="5194277" y="346248"/>
                      <a:pt x="5186761" y="346248"/>
                    </a:cubicBezTo>
                    <a:lnTo>
                      <a:pt x="13609" y="346248"/>
                    </a:lnTo>
                    <a:cubicBezTo>
                      <a:pt x="10000" y="346248"/>
                      <a:pt x="6538" y="344814"/>
                      <a:pt x="3986" y="342262"/>
                    </a:cubicBezTo>
                    <a:cubicBezTo>
                      <a:pt x="1434" y="339710"/>
                      <a:pt x="0" y="336248"/>
                      <a:pt x="0" y="332639"/>
                    </a:cubicBezTo>
                    <a:lnTo>
                      <a:pt x="0" y="13609"/>
                    </a:lnTo>
                    <a:cubicBezTo>
                      <a:pt x="0" y="10000"/>
                      <a:pt x="1434" y="6538"/>
                      <a:pt x="3986" y="3986"/>
                    </a:cubicBezTo>
                    <a:cubicBezTo>
                      <a:pt x="6538" y="1434"/>
                      <a:pt x="10000" y="0"/>
                      <a:pt x="13609" y="0"/>
                    </a:cubicBezTo>
                    <a:close/>
                  </a:path>
                </a:pathLst>
              </a:custGeom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5200370" cy="3652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7333" y="165829"/>
              <a:ext cx="12257550" cy="449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  <a:spcBef>
                  <a:spcPct val="0"/>
                </a:spcBef>
              </a:pPr>
              <a:r>
                <a:rPr lang="en-US" sz="2400" b="1" u="none" strike="noStrike" spc="-9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Panel administrativo con CRUD de lugares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28700" y="8494134"/>
            <a:ext cx="9249163" cy="905344"/>
            <a:chOff x="0" y="0"/>
            <a:chExt cx="12332217" cy="1207125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2332217" cy="1207125"/>
              <a:chOff x="0" y="0"/>
              <a:chExt cx="5200370" cy="50903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200370" cy="509032"/>
              </a:xfrm>
              <a:custGeom>
                <a:avLst/>
                <a:gdLst/>
                <a:ahLst/>
                <a:cxnLst/>
                <a:rect l="l" t="t" r="r" b="b"/>
                <a:pathLst>
                  <a:path w="5200370" h="509032">
                    <a:moveTo>
                      <a:pt x="13609" y="0"/>
                    </a:moveTo>
                    <a:lnTo>
                      <a:pt x="5186761" y="0"/>
                    </a:lnTo>
                    <a:cubicBezTo>
                      <a:pt x="5190370" y="0"/>
                      <a:pt x="5193832" y="1434"/>
                      <a:pt x="5196384" y="3986"/>
                    </a:cubicBezTo>
                    <a:cubicBezTo>
                      <a:pt x="5198936" y="6538"/>
                      <a:pt x="5200370" y="10000"/>
                      <a:pt x="5200370" y="13609"/>
                    </a:cubicBezTo>
                    <a:lnTo>
                      <a:pt x="5200370" y="495423"/>
                    </a:lnTo>
                    <a:cubicBezTo>
                      <a:pt x="5200370" y="499033"/>
                      <a:pt x="5198936" y="502494"/>
                      <a:pt x="5196384" y="505046"/>
                    </a:cubicBezTo>
                    <a:cubicBezTo>
                      <a:pt x="5193832" y="507599"/>
                      <a:pt x="5190370" y="509032"/>
                      <a:pt x="5186761" y="509032"/>
                    </a:cubicBezTo>
                    <a:lnTo>
                      <a:pt x="13609" y="509032"/>
                    </a:lnTo>
                    <a:cubicBezTo>
                      <a:pt x="10000" y="509032"/>
                      <a:pt x="6538" y="507599"/>
                      <a:pt x="3986" y="505046"/>
                    </a:cubicBezTo>
                    <a:cubicBezTo>
                      <a:pt x="1434" y="502494"/>
                      <a:pt x="0" y="499033"/>
                      <a:pt x="0" y="495423"/>
                    </a:cubicBezTo>
                    <a:lnTo>
                      <a:pt x="0" y="13609"/>
                    </a:lnTo>
                    <a:cubicBezTo>
                      <a:pt x="0" y="10000"/>
                      <a:pt x="1434" y="6538"/>
                      <a:pt x="3986" y="3986"/>
                    </a:cubicBezTo>
                    <a:cubicBezTo>
                      <a:pt x="6538" y="1434"/>
                      <a:pt x="10000" y="0"/>
                      <a:pt x="13609" y="0"/>
                    </a:cubicBezTo>
                    <a:close/>
                  </a:path>
                </a:pathLst>
              </a:custGeom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5200370" cy="5280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7333" y="165829"/>
              <a:ext cx="12257550" cy="449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  <a:spcBef>
                  <a:spcPct val="0"/>
                </a:spcBef>
              </a:pPr>
              <a:r>
                <a:rPr lang="en-US" sz="2400" b="1" u="none" strike="noStrike" spc="-9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Canal de soporte y recomendaciones (reportes, reseñas)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9297789" y="2217324"/>
            <a:ext cx="8687981" cy="7510979"/>
          </a:xfrm>
          <a:custGeom>
            <a:avLst/>
            <a:gdLst/>
            <a:ahLst/>
            <a:cxnLst/>
            <a:rect l="l" t="t" r="r" b="b"/>
            <a:pathLst>
              <a:path w="8687981" h="7510979">
                <a:moveTo>
                  <a:pt x="0" y="0"/>
                </a:moveTo>
                <a:lnTo>
                  <a:pt x="8687981" y="0"/>
                </a:lnTo>
                <a:lnTo>
                  <a:pt x="8687981" y="7510980"/>
                </a:lnTo>
                <a:lnTo>
                  <a:pt x="0" y="7510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279" r="-43599" b="-4711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8" name="TextBox 38"/>
          <p:cNvSpPr txBox="1"/>
          <p:nvPr/>
        </p:nvSpPr>
        <p:spPr>
          <a:xfrm>
            <a:off x="1028700" y="1776945"/>
            <a:ext cx="9027677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9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Culture Go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8700" y="3299025"/>
            <a:ext cx="10923222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 móvil para</a:t>
            </a:r>
            <a:r>
              <a:rPr lang="en-US" sz="2799" b="1" spc="-8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descubrir atractivos culturales de Santiago</a:t>
            </a:r>
            <a:r>
              <a:rPr lang="en-US" sz="2799" spc="-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con foco en lugares de menor visibilidad.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2759" y="949891"/>
            <a:ext cx="13371466" cy="6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4886" spc="-19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Solución propuesta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8700" y="4732941"/>
            <a:ext cx="730305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Principales funcionalidades: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88007" y="772179"/>
            <a:ext cx="9027677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9"/>
              </a:lnSpc>
              <a:spcBef>
                <a:spcPct val="0"/>
              </a:spcBef>
            </a:pPr>
            <a:r>
              <a:rPr lang="en-US" sz="99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Culture Go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V="1">
            <a:off x="-1355938" y="844575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V="1">
            <a:off x="-1951194" y="901805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8855795">
            <a:off x="-1664865" y="-833641"/>
            <a:ext cx="3329730" cy="4268884"/>
          </a:xfrm>
          <a:custGeom>
            <a:avLst/>
            <a:gdLst/>
            <a:ahLst/>
            <a:cxnLst/>
            <a:rect l="l" t="t" r="r" b="b"/>
            <a:pathLst>
              <a:path w="3329730" h="4268884">
                <a:moveTo>
                  <a:pt x="0" y="0"/>
                </a:moveTo>
                <a:lnTo>
                  <a:pt x="3329730" y="0"/>
                </a:lnTo>
                <a:lnTo>
                  <a:pt x="3329730" y="4268885"/>
                </a:lnTo>
                <a:lnTo>
                  <a:pt x="0" y="42688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8462148" y="6293991"/>
            <a:ext cx="1079396" cy="1284995"/>
          </a:xfrm>
          <a:custGeom>
            <a:avLst/>
            <a:gdLst/>
            <a:ahLst/>
            <a:cxnLst/>
            <a:rect l="l" t="t" r="r" b="b"/>
            <a:pathLst>
              <a:path w="1079396" h="1284995">
                <a:moveTo>
                  <a:pt x="0" y="0"/>
                </a:moveTo>
                <a:lnTo>
                  <a:pt x="1079396" y="0"/>
                </a:lnTo>
                <a:lnTo>
                  <a:pt x="1079396" y="1284995"/>
                </a:lnTo>
                <a:lnTo>
                  <a:pt x="0" y="1284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5138996" y="2558802"/>
            <a:ext cx="7725701" cy="51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65"/>
              </a:lnSpc>
              <a:spcBef>
                <a:spcPct val="0"/>
              </a:spcBef>
            </a:pPr>
            <a:r>
              <a:rPr lang="en-US" sz="3865" b="1" u="none" strike="noStrike" spc="-15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¿Cómo soluciona el problema?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2322" y="3301949"/>
            <a:ext cx="14819047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Reemplaza la información genérica y repetitiva de las plataformas actuales por un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catálogo curado y filtrable de lugares poco conocidos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y usa 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gamificación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 motivar su visita real.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170" y="6483243"/>
            <a:ext cx="4634228" cy="35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itios web extensos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73120" y="6823468"/>
            <a:ext cx="4726414" cy="3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 filtro de gratuidad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708" y="7736588"/>
            <a:ext cx="7533082" cy="3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</a:t>
            </a: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perfil ni gamificación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693738"/>
            <a:ext cx="7389499" cy="68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Descubrimiento limitado: Siempre se muestra los mismos lugares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01683" y="6341616"/>
            <a:ext cx="7979569" cy="3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0"/>
              </a:lnSpc>
              <a:spcBef>
                <a:spcPct val="0"/>
              </a:spcBef>
            </a:pPr>
            <a:r>
              <a:rPr lang="en-US" sz="2650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apa interactivo con cobertura de todo Santiago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47916" y="7225908"/>
            <a:ext cx="6766560" cy="3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Filtros </a:t>
            </a: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 categoría, comuna y gratuidad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56709" y="8226686"/>
            <a:ext cx="6624208" cy="3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Todo integrado en una sola plataforma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45651" y="4914425"/>
            <a:ext cx="5484712" cy="76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sz="6075">
                <a:solidFill>
                  <a:srgbClr val="7A5EA8"/>
                </a:solidFill>
                <a:latin typeface="Luducudu"/>
                <a:ea typeface="Luducudu"/>
                <a:cs typeface="Luducudu"/>
                <a:sym typeface="Luducudu"/>
              </a:rPr>
              <a:t>antes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73329" y="4926279"/>
            <a:ext cx="5484712" cy="76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sz="6075">
                <a:solidFill>
                  <a:srgbClr val="7A5EA8"/>
                </a:solidFill>
                <a:latin typeface="Luducudu"/>
                <a:ea typeface="Luducudu"/>
                <a:cs typeface="Luducudu"/>
                <a:sym typeface="Luducudu"/>
              </a:rPr>
              <a:t>después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01683" y="9113164"/>
            <a:ext cx="8203645" cy="3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0"/>
              </a:lnSpc>
              <a:spcBef>
                <a:spcPct val="0"/>
              </a:spcBef>
            </a:pPr>
            <a:r>
              <a:rPr lang="en-US" sz="2650" b="1" u="none" strike="noStrike" spc="-1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Selección curada y variada de atractivos culturales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62231" y="-903447"/>
            <a:ext cx="6426280" cy="3364040"/>
            <a:chOff x="0" y="0"/>
            <a:chExt cx="8568373" cy="4485387"/>
          </a:xfrm>
        </p:grpSpPr>
        <p:sp>
          <p:nvSpPr>
            <p:cNvPr id="3" name="Freeform 3"/>
            <p:cNvSpPr/>
            <p:nvPr/>
          </p:nvSpPr>
          <p:spPr>
            <a:xfrm flipV="1">
              <a:off x="0" y="1101535"/>
              <a:ext cx="7625583" cy="3383852"/>
            </a:xfrm>
            <a:custGeom>
              <a:avLst/>
              <a:gdLst/>
              <a:ahLst/>
              <a:cxnLst/>
              <a:rect l="l" t="t" r="r" b="b"/>
              <a:pathLst>
                <a:path w="7625583" h="3383852">
                  <a:moveTo>
                    <a:pt x="0" y="3383852"/>
                  </a:moveTo>
                  <a:lnTo>
                    <a:pt x="7625583" y="3383852"/>
                  </a:lnTo>
                  <a:lnTo>
                    <a:pt x="7625583" y="0"/>
                  </a:lnTo>
                  <a:lnTo>
                    <a:pt x="0" y="0"/>
                  </a:lnTo>
                  <a:lnTo>
                    <a:pt x="0" y="33838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 flipV="1">
              <a:off x="942790" y="0"/>
              <a:ext cx="7625583" cy="3383852"/>
            </a:xfrm>
            <a:custGeom>
              <a:avLst/>
              <a:gdLst/>
              <a:ahLst/>
              <a:cxnLst/>
              <a:rect l="l" t="t" r="r" b="b"/>
              <a:pathLst>
                <a:path w="7625583" h="3383852">
                  <a:moveTo>
                    <a:pt x="0" y="3383852"/>
                  </a:moveTo>
                  <a:lnTo>
                    <a:pt x="7625583" y="3383852"/>
                  </a:lnTo>
                  <a:lnTo>
                    <a:pt x="7625583" y="0"/>
                  </a:lnTo>
                  <a:lnTo>
                    <a:pt x="0" y="0"/>
                  </a:lnTo>
                  <a:lnTo>
                    <a:pt x="0" y="33838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07802" y="2291857"/>
            <a:ext cx="9272395" cy="3779850"/>
            <a:chOff x="0" y="0"/>
            <a:chExt cx="3685286" cy="15022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85286" cy="1502290"/>
            </a:xfrm>
            <a:custGeom>
              <a:avLst/>
              <a:gdLst/>
              <a:ahLst/>
              <a:cxnLst/>
              <a:rect l="l" t="t" r="r" b="b"/>
              <a:pathLst>
                <a:path w="3685286" h="1502290">
                  <a:moveTo>
                    <a:pt x="19204" y="0"/>
                  </a:moveTo>
                  <a:lnTo>
                    <a:pt x="3666083" y="0"/>
                  </a:lnTo>
                  <a:cubicBezTo>
                    <a:pt x="3676688" y="0"/>
                    <a:pt x="3685286" y="8598"/>
                    <a:pt x="3685286" y="19204"/>
                  </a:cubicBezTo>
                  <a:lnTo>
                    <a:pt x="3685286" y="1483087"/>
                  </a:lnTo>
                  <a:cubicBezTo>
                    <a:pt x="3685286" y="1488180"/>
                    <a:pt x="3683263" y="1493064"/>
                    <a:pt x="3679662" y="1496666"/>
                  </a:cubicBezTo>
                  <a:cubicBezTo>
                    <a:pt x="3676060" y="1500267"/>
                    <a:pt x="3671176" y="1502290"/>
                    <a:pt x="3666083" y="1502290"/>
                  </a:cubicBezTo>
                  <a:lnTo>
                    <a:pt x="19204" y="1502290"/>
                  </a:lnTo>
                  <a:cubicBezTo>
                    <a:pt x="14111" y="1502290"/>
                    <a:pt x="9226" y="1500267"/>
                    <a:pt x="5625" y="1496666"/>
                  </a:cubicBezTo>
                  <a:cubicBezTo>
                    <a:pt x="2023" y="1493064"/>
                    <a:pt x="0" y="1488180"/>
                    <a:pt x="0" y="1483087"/>
                  </a:cubicBezTo>
                  <a:lnTo>
                    <a:pt x="0" y="19204"/>
                  </a:lnTo>
                  <a:cubicBezTo>
                    <a:pt x="0" y="14111"/>
                    <a:pt x="2023" y="9226"/>
                    <a:pt x="5625" y="5625"/>
                  </a:cubicBezTo>
                  <a:cubicBezTo>
                    <a:pt x="9226" y="2023"/>
                    <a:pt x="14111" y="0"/>
                    <a:pt x="19204" y="0"/>
                  </a:cubicBezTo>
                  <a:close/>
                </a:path>
              </a:pathLst>
            </a:custGeom>
            <a:solidFill>
              <a:srgbClr val="7E659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85286" cy="1540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263562" y="3924201"/>
            <a:ext cx="2872067" cy="2976235"/>
          </a:xfrm>
          <a:custGeom>
            <a:avLst/>
            <a:gdLst/>
            <a:ahLst/>
            <a:cxnLst/>
            <a:rect l="l" t="t" r="r" b="b"/>
            <a:pathLst>
              <a:path w="2872067" h="2976235">
                <a:moveTo>
                  <a:pt x="0" y="0"/>
                </a:moveTo>
                <a:lnTo>
                  <a:pt x="2872067" y="0"/>
                </a:lnTo>
                <a:lnTo>
                  <a:pt x="2872067" y="2976235"/>
                </a:lnTo>
                <a:lnTo>
                  <a:pt x="0" y="2976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718349" y="654655"/>
            <a:ext cx="12995027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99"/>
              </a:lnSpc>
              <a:spcBef>
                <a:spcPct val="0"/>
              </a:spcBef>
            </a:pPr>
            <a:r>
              <a:rPr lang="en-US" sz="99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objetivo general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87410" y="2704454"/>
            <a:ext cx="7874821" cy="2887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FFFFF3"/>
                </a:solidFill>
                <a:latin typeface="Canva Sans"/>
                <a:ea typeface="Canva Sans"/>
                <a:cs typeface="Canva Sans"/>
                <a:sym typeface="Canva Sans"/>
              </a:rPr>
              <a:t>Desarrollar CultureGo en 18 semanas, cubriendo el 100% de los 34 requerimientos funcionales definidos en la ERS v2.0 y validando su funcionamiento con usuarios reales.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1062" y="6433657"/>
            <a:ext cx="8572500" cy="46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A986CC"/>
                </a:solidFill>
                <a:latin typeface="Bree Serif"/>
                <a:ea typeface="Bree Serif"/>
                <a:cs typeface="Bree Serif"/>
                <a:sym typeface="Bree Serif"/>
              </a:rPr>
              <a:t>34 REQUERIMIENTOS FUNCIONALES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119812" y="6952796"/>
            <a:ext cx="5715000" cy="0"/>
          </a:xfrm>
          <a:prstGeom prst="line">
            <a:avLst/>
          </a:prstGeom>
          <a:ln w="19050" cap="flat">
            <a:solidFill>
              <a:srgbClr val="A986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785812" y="7143296"/>
            <a:ext cx="266700" cy="266700"/>
            <a:chOff x="0" y="0"/>
            <a:chExt cx="355600" cy="355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85812" y="70804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62" y="71099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Registro, sesión y contraseñas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453187" y="7143296"/>
            <a:ext cx="266700" cy="266700"/>
            <a:chOff x="0" y="0"/>
            <a:chExt cx="355600" cy="355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453187" y="70804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15137" y="71099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Términos y eliminación de cuenta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120562" y="7143296"/>
            <a:ext cx="266700" cy="266700"/>
            <a:chOff x="0" y="0"/>
            <a:chExt cx="355600" cy="355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120562" y="70804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82512" y="71099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Perfil, configuración y modo oscuro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85812" y="7638596"/>
            <a:ext cx="266700" cy="266700"/>
            <a:chOff x="0" y="0"/>
            <a:chExt cx="355600" cy="355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85812" y="75757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7762" y="76052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Catálogo y búsqueda por nombre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453187" y="7638596"/>
            <a:ext cx="266700" cy="266700"/>
            <a:chOff x="0" y="0"/>
            <a:chExt cx="355600" cy="355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453187" y="75757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15137" y="76052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Filtros por tipo, comuna y gratuidad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120562" y="7638596"/>
            <a:ext cx="266700" cy="266700"/>
            <a:chOff x="0" y="0"/>
            <a:chExt cx="355600" cy="355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120562" y="75757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482512" y="76052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Mapa, filtros y Cerca de mí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785812" y="8133896"/>
            <a:ext cx="266700" cy="266700"/>
            <a:chOff x="0" y="0"/>
            <a:chExt cx="355600" cy="355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785812" y="80710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7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7762" y="81005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Visitas, medallas e historial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453187" y="8133896"/>
            <a:ext cx="266700" cy="266700"/>
            <a:chOff x="0" y="0"/>
            <a:chExt cx="355600" cy="355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6453187" y="80710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15137" y="8100559"/>
            <a:ext cx="52101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Avatar con ítems desbloqueables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2120562" y="8133896"/>
            <a:ext cx="266700" cy="266700"/>
            <a:chOff x="0" y="0"/>
            <a:chExt cx="355600" cy="3556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120562" y="80710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9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482512" y="81005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Reseñas y su moderación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785812" y="8629196"/>
            <a:ext cx="266700" cy="266700"/>
            <a:chOff x="0" y="0"/>
            <a:chExt cx="355600" cy="355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785812" y="85663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10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7762" y="85958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Reportes, sugerencias y tickets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453187" y="8629196"/>
            <a:ext cx="266700" cy="266700"/>
            <a:chOff x="0" y="0"/>
            <a:chExt cx="355600" cy="3556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6453187" y="85663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11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15137" y="85958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Panel de administración y roles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2120562" y="8629196"/>
            <a:ext cx="266700" cy="266700"/>
            <a:chOff x="0" y="0"/>
            <a:chExt cx="355600" cy="355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cubicBezTo>
                    <a:pt x="79604" y="0"/>
                    <a:pt x="0" y="79604"/>
                    <a:pt x="0" y="177800"/>
                  </a:cubicBez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lose/>
                </a:path>
              </a:pathLst>
            </a:custGeom>
            <a:solidFill>
              <a:srgbClr val="A986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2120562" y="8566345"/>
            <a:ext cx="266700" cy="34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>
                <a:solidFill>
                  <a:srgbClr val="4D3C6C"/>
                </a:solidFill>
                <a:latin typeface="Bree Serif"/>
                <a:ea typeface="Bree Serif"/>
                <a:cs typeface="Bree Serif"/>
                <a:sym typeface="Bree Serif"/>
              </a:rPr>
              <a:t>12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482512" y="8595859"/>
            <a:ext cx="50196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Animación de carga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62231" y="-903447"/>
            <a:ext cx="6426280" cy="3364040"/>
            <a:chOff x="0" y="0"/>
            <a:chExt cx="8568373" cy="4485387"/>
          </a:xfrm>
        </p:grpSpPr>
        <p:sp>
          <p:nvSpPr>
            <p:cNvPr id="3" name="Freeform 3"/>
            <p:cNvSpPr/>
            <p:nvPr/>
          </p:nvSpPr>
          <p:spPr>
            <a:xfrm flipV="1">
              <a:off x="0" y="1101535"/>
              <a:ext cx="7625583" cy="3383852"/>
            </a:xfrm>
            <a:custGeom>
              <a:avLst/>
              <a:gdLst/>
              <a:ahLst/>
              <a:cxnLst/>
              <a:rect l="l" t="t" r="r" b="b"/>
              <a:pathLst>
                <a:path w="7625583" h="3383852">
                  <a:moveTo>
                    <a:pt x="0" y="3383852"/>
                  </a:moveTo>
                  <a:lnTo>
                    <a:pt x="7625583" y="3383852"/>
                  </a:lnTo>
                  <a:lnTo>
                    <a:pt x="7625583" y="0"/>
                  </a:lnTo>
                  <a:lnTo>
                    <a:pt x="0" y="0"/>
                  </a:lnTo>
                  <a:lnTo>
                    <a:pt x="0" y="33838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 flipV="1">
              <a:off x="942790" y="0"/>
              <a:ext cx="7625583" cy="3383852"/>
            </a:xfrm>
            <a:custGeom>
              <a:avLst/>
              <a:gdLst/>
              <a:ahLst/>
              <a:cxnLst/>
              <a:rect l="l" t="t" r="r" b="b"/>
              <a:pathLst>
                <a:path w="7625583" h="3383852">
                  <a:moveTo>
                    <a:pt x="0" y="3383852"/>
                  </a:moveTo>
                  <a:lnTo>
                    <a:pt x="7625583" y="3383852"/>
                  </a:lnTo>
                  <a:lnTo>
                    <a:pt x="7625583" y="0"/>
                  </a:lnTo>
                  <a:lnTo>
                    <a:pt x="0" y="0"/>
                  </a:lnTo>
                  <a:lnTo>
                    <a:pt x="0" y="33838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349" y="3134619"/>
            <a:ext cx="5465416" cy="4511285"/>
            <a:chOff x="0" y="0"/>
            <a:chExt cx="2172214" cy="1792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2214" cy="1792997"/>
            </a:xfrm>
            <a:custGeom>
              <a:avLst/>
              <a:gdLst/>
              <a:ahLst/>
              <a:cxnLst/>
              <a:rect l="l" t="t" r="r" b="b"/>
              <a:pathLst>
                <a:path w="2172214" h="1792997">
                  <a:moveTo>
                    <a:pt x="32580" y="0"/>
                  </a:moveTo>
                  <a:lnTo>
                    <a:pt x="2139634" y="0"/>
                  </a:lnTo>
                  <a:cubicBezTo>
                    <a:pt x="2148274" y="0"/>
                    <a:pt x="2156561" y="3433"/>
                    <a:pt x="2162671" y="9543"/>
                  </a:cubicBezTo>
                  <a:cubicBezTo>
                    <a:pt x="2168781" y="15652"/>
                    <a:pt x="2172214" y="23939"/>
                    <a:pt x="2172214" y="32580"/>
                  </a:cubicBezTo>
                  <a:lnTo>
                    <a:pt x="2172214" y="1760417"/>
                  </a:lnTo>
                  <a:cubicBezTo>
                    <a:pt x="2172214" y="1769058"/>
                    <a:pt x="2168781" y="1777344"/>
                    <a:pt x="2162671" y="1783455"/>
                  </a:cubicBezTo>
                  <a:cubicBezTo>
                    <a:pt x="2156561" y="1789564"/>
                    <a:pt x="2148274" y="1792997"/>
                    <a:pt x="2139634" y="1792997"/>
                  </a:cubicBezTo>
                  <a:lnTo>
                    <a:pt x="32580" y="1792997"/>
                  </a:lnTo>
                  <a:cubicBezTo>
                    <a:pt x="23939" y="1792997"/>
                    <a:pt x="15652" y="1789564"/>
                    <a:pt x="9543" y="1783455"/>
                  </a:cubicBezTo>
                  <a:cubicBezTo>
                    <a:pt x="3433" y="1777344"/>
                    <a:pt x="0" y="1769058"/>
                    <a:pt x="0" y="1760417"/>
                  </a:cubicBezTo>
                  <a:lnTo>
                    <a:pt x="0" y="32580"/>
                  </a:lnTo>
                  <a:cubicBezTo>
                    <a:pt x="0" y="23939"/>
                    <a:pt x="3433" y="15652"/>
                    <a:pt x="9543" y="9543"/>
                  </a:cubicBezTo>
                  <a:cubicBezTo>
                    <a:pt x="15652" y="3433"/>
                    <a:pt x="23939" y="0"/>
                    <a:pt x="32580" y="0"/>
                  </a:cubicBezTo>
                  <a:close/>
                </a:path>
              </a:pathLst>
            </a:custGeom>
            <a:solidFill>
              <a:srgbClr val="7E659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72214" cy="1850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1074" y="3134619"/>
            <a:ext cx="5465416" cy="4511285"/>
            <a:chOff x="0" y="0"/>
            <a:chExt cx="2172214" cy="1792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2214" cy="1792997"/>
            </a:xfrm>
            <a:custGeom>
              <a:avLst/>
              <a:gdLst/>
              <a:ahLst/>
              <a:cxnLst/>
              <a:rect l="l" t="t" r="r" b="b"/>
              <a:pathLst>
                <a:path w="2172214" h="1792997">
                  <a:moveTo>
                    <a:pt x="32580" y="0"/>
                  </a:moveTo>
                  <a:lnTo>
                    <a:pt x="2139634" y="0"/>
                  </a:lnTo>
                  <a:cubicBezTo>
                    <a:pt x="2148274" y="0"/>
                    <a:pt x="2156561" y="3433"/>
                    <a:pt x="2162671" y="9543"/>
                  </a:cubicBezTo>
                  <a:cubicBezTo>
                    <a:pt x="2168781" y="15652"/>
                    <a:pt x="2172214" y="23939"/>
                    <a:pt x="2172214" y="32580"/>
                  </a:cubicBezTo>
                  <a:lnTo>
                    <a:pt x="2172214" y="1760417"/>
                  </a:lnTo>
                  <a:cubicBezTo>
                    <a:pt x="2172214" y="1769058"/>
                    <a:pt x="2168781" y="1777344"/>
                    <a:pt x="2162671" y="1783455"/>
                  </a:cubicBezTo>
                  <a:cubicBezTo>
                    <a:pt x="2156561" y="1789564"/>
                    <a:pt x="2148274" y="1792997"/>
                    <a:pt x="2139634" y="1792997"/>
                  </a:cubicBezTo>
                  <a:lnTo>
                    <a:pt x="32580" y="1792997"/>
                  </a:lnTo>
                  <a:cubicBezTo>
                    <a:pt x="23939" y="1792997"/>
                    <a:pt x="15652" y="1789564"/>
                    <a:pt x="9543" y="1783455"/>
                  </a:cubicBezTo>
                  <a:cubicBezTo>
                    <a:pt x="3433" y="1777344"/>
                    <a:pt x="0" y="1769058"/>
                    <a:pt x="0" y="1760417"/>
                  </a:cubicBezTo>
                  <a:lnTo>
                    <a:pt x="0" y="32580"/>
                  </a:lnTo>
                  <a:cubicBezTo>
                    <a:pt x="0" y="23939"/>
                    <a:pt x="3433" y="15652"/>
                    <a:pt x="9543" y="9543"/>
                  </a:cubicBezTo>
                  <a:cubicBezTo>
                    <a:pt x="15652" y="3433"/>
                    <a:pt x="23939" y="0"/>
                    <a:pt x="32580" y="0"/>
                  </a:cubicBezTo>
                  <a:close/>
                </a:path>
              </a:pathLst>
            </a:custGeom>
            <a:solidFill>
              <a:srgbClr val="7E659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72214" cy="1850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1292" y="3134619"/>
            <a:ext cx="5465416" cy="4511285"/>
            <a:chOff x="0" y="0"/>
            <a:chExt cx="2172214" cy="17929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2214" cy="1792997"/>
            </a:xfrm>
            <a:custGeom>
              <a:avLst/>
              <a:gdLst/>
              <a:ahLst/>
              <a:cxnLst/>
              <a:rect l="l" t="t" r="r" b="b"/>
              <a:pathLst>
                <a:path w="2172214" h="1792997">
                  <a:moveTo>
                    <a:pt x="32580" y="0"/>
                  </a:moveTo>
                  <a:lnTo>
                    <a:pt x="2139634" y="0"/>
                  </a:lnTo>
                  <a:cubicBezTo>
                    <a:pt x="2148274" y="0"/>
                    <a:pt x="2156561" y="3433"/>
                    <a:pt x="2162671" y="9543"/>
                  </a:cubicBezTo>
                  <a:cubicBezTo>
                    <a:pt x="2168781" y="15652"/>
                    <a:pt x="2172214" y="23939"/>
                    <a:pt x="2172214" y="32580"/>
                  </a:cubicBezTo>
                  <a:lnTo>
                    <a:pt x="2172214" y="1760417"/>
                  </a:lnTo>
                  <a:cubicBezTo>
                    <a:pt x="2172214" y="1769058"/>
                    <a:pt x="2168781" y="1777344"/>
                    <a:pt x="2162671" y="1783455"/>
                  </a:cubicBezTo>
                  <a:cubicBezTo>
                    <a:pt x="2156561" y="1789564"/>
                    <a:pt x="2148274" y="1792997"/>
                    <a:pt x="2139634" y="1792997"/>
                  </a:cubicBezTo>
                  <a:lnTo>
                    <a:pt x="32580" y="1792997"/>
                  </a:lnTo>
                  <a:cubicBezTo>
                    <a:pt x="23939" y="1792997"/>
                    <a:pt x="15652" y="1789564"/>
                    <a:pt x="9543" y="1783455"/>
                  </a:cubicBezTo>
                  <a:cubicBezTo>
                    <a:pt x="3433" y="1777344"/>
                    <a:pt x="0" y="1769058"/>
                    <a:pt x="0" y="1760417"/>
                  </a:cubicBezTo>
                  <a:lnTo>
                    <a:pt x="0" y="32580"/>
                  </a:lnTo>
                  <a:cubicBezTo>
                    <a:pt x="0" y="23939"/>
                    <a:pt x="3433" y="15652"/>
                    <a:pt x="9543" y="9543"/>
                  </a:cubicBezTo>
                  <a:cubicBezTo>
                    <a:pt x="15652" y="3433"/>
                    <a:pt x="23939" y="0"/>
                    <a:pt x="32580" y="0"/>
                  </a:cubicBezTo>
                  <a:close/>
                </a:path>
              </a:pathLst>
            </a:custGeom>
            <a:solidFill>
              <a:srgbClr val="7E659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72214" cy="1850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182915" y="6909095"/>
            <a:ext cx="2102538" cy="2349205"/>
          </a:xfrm>
          <a:custGeom>
            <a:avLst/>
            <a:gdLst/>
            <a:ahLst/>
            <a:cxnLst/>
            <a:rect l="l" t="t" r="r" b="b"/>
            <a:pathLst>
              <a:path w="2102538" h="2349205">
                <a:moveTo>
                  <a:pt x="0" y="0"/>
                </a:moveTo>
                <a:lnTo>
                  <a:pt x="2102539" y="0"/>
                </a:lnTo>
                <a:lnTo>
                  <a:pt x="2102539" y="2349205"/>
                </a:lnTo>
                <a:lnTo>
                  <a:pt x="0" y="2349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4127156" y="6862434"/>
            <a:ext cx="1593251" cy="2395866"/>
          </a:xfrm>
          <a:custGeom>
            <a:avLst/>
            <a:gdLst/>
            <a:ahLst/>
            <a:cxnLst/>
            <a:rect l="l" t="t" r="r" b="b"/>
            <a:pathLst>
              <a:path w="1593251" h="2395866">
                <a:moveTo>
                  <a:pt x="0" y="0"/>
                </a:moveTo>
                <a:lnTo>
                  <a:pt x="1593251" y="0"/>
                </a:lnTo>
                <a:lnTo>
                  <a:pt x="1593251" y="2395866"/>
                </a:lnTo>
                <a:lnTo>
                  <a:pt x="0" y="239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6549874" y="3224276"/>
            <a:ext cx="5188253" cy="427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Validar CultureGo con ≥3 usuarios reales (semanas 16-17), que usan libremente la app, comentan su experiencia y la valoran de 1 a 5 estrellas (meta: promedio ≥4).</a:t>
            </a:r>
          </a:p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334885" y="6881484"/>
            <a:ext cx="2232345" cy="2453127"/>
          </a:xfrm>
          <a:custGeom>
            <a:avLst/>
            <a:gdLst/>
            <a:ahLst/>
            <a:cxnLst/>
            <a:rect l="l" t="t" r="r" b="b"/>
            <a:pathLst>
              <a:path w="2232345" h="2453127">
                <a:moveTo>
                  <a:pt x="0" y="0"/>
                </a:moveTo>
                <a:lnTo>
                  <a:pt x="2232345" y="0"/>
                </a:lnTo>
                <a:lnTo>
                  <a:pt x="2232345" y="2453127"/>
                </a:lnTo>
                <a:lnTo>
                  <a:pt x="0" y="2453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856061" y="3224276"/>
            <a:ext cx="5189993" cy="475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Implementar un catálogo de atractivos culturales filtrable por categoría, comuna y gratuidad, con al menos 20 lugares para esta primera etapa, funcional al finalizar el desarrollo frontend (semana 10).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463031" y="3224276"/>
            <a:ext cx="4921501" cy="379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</a:t>
            </a:r>
            <a:r>
              <a:rPr lang="en-US" sz="2700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lementar un mapa con geolocalización (Leaflet + PostGIS), logrando que ≥90% de los lugares tengan coordenadas visibles antes de las pruebas (semana 16).</a:t>
            </a:r>
          </a:p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8349" y="654655"/>
            <a:ext cx="12995027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99"/>
              </a:lnSpc>
              <a:spcBef>
                <a:spcPct val="0"/>
              </a:spcBef>
            </a:pPr>
            <a:r>
              <a:rPr lang="en-US" sz="9999" u="none" strike="noStrike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Objetivos específicos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2690" y="2393918"/>
            <a:ext cx="435673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ctr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Catálogo filtrable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2518" y="2393918"/>
            <a:ext cx="492296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2. Validación con usuarios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55601" y="2393918"/>
            <a:ext cx="573636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AutoNum type="arabicPeriod"/>
            </a:pPr>
            <a:r>
              <a:rPr lang="en-US" sz="32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Mapa con geolocalización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4151" flipV="1">
            <a:off x="-1094020" y="-133646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2514151" flipV="1">
            <a:off x="-787432" y="-58496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04663" y="706867"/>
            <a:ext cx="10485551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99"/>
              </a:lnSpc>
              <a:spcBef>
                <a:spcPct val="0"/>
              </a:spcBef>
            </a:pPr>
            <a:r>
              <a:rPr lang="en-US" sz="9999" u="none" strike="noStrike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Metodología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4663" y="2097281"/>
            <a:ext cx="8219225" cy="12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6"/>
              </a:lnSpc>
            </a:pPr>
            <a:r>
              <a:rPr lang="en-US" sz="4686" spc="-18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 seleccionada: tradicional - cascada</a:t>
            </a:r>
          </a:p>
        </p:txBody>
      </p:sp>
      <p:sp>
        <p:nvSpPr>
          <p:cNvPr id="6" name="Freeform 6"/>
          <p:cNvSpPr/>
          <p:nvPr/>
        </p:nvSpPr>
        <p:spPr>
          <a:xfrm rot="-2514151" flipV="1">
            <a:off x="14056641" y="8225323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-2514151" flipV="1">
            <a:off x="14363229" y="8976824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8" name="Object 8"/>
          <p:cNvGraphicFramePr/>
          <p:nvPr>
            <p:extLst>
              <p:ext uri="{D42A27DB-BD31-4B8C-83A1-F6EECF244321}">
                <p14:modId xmlns:p14="http://schemas.microsoft.com/office/powerpoint/2010/main" val="3230098922"/>
              </p:ext>
            </p:extLst>
          </p:nvPr>
        </p:nvGraphicFramePr>
        <p:xfrm>
          <a:off x="-381000" y="2476500"/>
          <a:ext cx="25715312" cy="7402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0175200" imgH="8801100" progId="Excel.Sheet.12">
                  <p:embed/>
                </p:oleObj>
              </mc:Choice>
              <mc:Fallback>
                <p:oleObj name="Worksheet" r:id="rId3" imgW="30175200" imgH="8801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81000" y="2476500"/>
                        <a:ext cx="25715312" cy="7402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318184" y="636354"/>
            <a:ext cx="8334084" cy="281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0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Elegimos cascada por el plazo fijo de 18 semanas, el equipo de 3 personas y los requisitos definidos al inicio en la ERS. Cada fase se cierra con sus entregables antes de iniciar la siguiente; si cambia un requisito, se aplica control de cambios. El proyecto se divide en 4 fases: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02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38072" lvl="1" indent="-219036" algn="l">
              <a:lnSpc>
                <a:spcPts val="2840"/>
              </a:lnSpc>
              <a:buFont typeface="Arial"/>
              <a:buChar char="•"/>
            </a:pPr>
            <a:r>
              <a:rPr lang="en-US" sz="20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1: Planificación </a:t>
            </a:r>
            <a:r>
              <a:rPr lang="en-US" sz="20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- 2 semanas</a:t>
            </a:r>
          </a:p>
          <a:p>
            <a:pPr marL="438072" lvl="1" indent="-219036" algn="l">
              <a:lnSpc>
                <a:spcPts val="2840"/>
              </a:lnSpc>
              <a:buFont typeface="Arial"/>
              <a:buChar char="•"/>
            </a:pPr>
            <a:r>
              <a:rPr lang="en-US" sz="20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2: Diseño </a:t>
            </a:r>
            <a:r>
              <a:rPr lang="en-US" sz="20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- 2 semanas</a:t>
            </a:r>
          </a:p>
          <a:p>
            <a:pPr marL="438072" lvl="1" indent="-219036" algn="l">
              <a:lnSpc>
                <a:spcPts val="2840"/>
              </a:lnSpc>
              <a:buFont typeface="Arial"/>
              <a:buChar char="•"/>
            </a:pPr>
            <a:r>
              <a:rPr lang="en-US" sz="20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3: Desarrollo </a:t>
            </a:r>
            <a:r>
              <a:rPr lang="en-US" sz="20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- 11 semanas</a:t>
            </a:r>
          </a:p>
          <a:p>
            <a:pPr marL="438072" lvl="1" indent="-219036" algn="l">
              <a:lnSpc>
                <a:spcPts val="2840"/>
              </a:lnSpc>
              <a:buFont typeface="Arial"/>
              <a:buChar char="•"/>
            </a:pPr>
            <a:r>
              <a:rPr lang="en-US" sz="20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4: Pruebas y despliegue </a:t>
            </a:r>
            <a:r>
              <a:rPr lang="en-US" sz="20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- 3 semanas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6439" y="3335811"/>
            <a:ext cx="1472968" cy="29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Carta Gantt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2501" y="889000"/>
            <a:ext cx="13982998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9"/>
              </a:lnSpc>
              <a:spcBef>
                <a:spcPct val="0"/>
              </a:spcBef>
            </a:pPr>
            <a:r>
              <a:rPr lang="en-US" sz="9999" u="none" strike="noStrike">
                <a:solidFill>
                  <a:srgbClr val="7A5EA8"/>
                </a:solidFill>
                <a:latin typeface="Luducudu"/>
                <a:ea typeface="Luducudu"/>
                <a:cs typeface="Luducudu"/>
                <a:sym typeface="Luducudu"/>
              </a:rPr>
              <a:t>Herramientas de trabajo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13114601" y="-36936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V="1">
            <a:off x="13406895" y="-1000901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V="1">
            <a:off x="-1355938" y="8404317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V="1">
            <a:off x="-1750203" y="9008877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8855795">
            <a:off x="-1664865" y="-1105742"/>
            <a:ext cx="3329730" cy="4268884"/>
          </a:xfrm>
          <a:custGeom>
            <a:avLst/>
            <a:gdLst/>
            <a:ahLst/>
            <a:cxnLst/>
            <a:rect l="l" t="t" r="r" b="b"/>
            <a:pathLst>
              <a:path w="3329730" h="4268884">
                <a:moveTo>
                  <a:pt x="0" y="0"/>
                </a:moveTo>
                <a:lnTo>
                  <a:pt x="3329730" y="0"/>
                </a:lnTo>
                <a:lnTo>
                  <a:pt x="3329730" y="4268884"/>
                </a:lnTo>
                <a:lnTo>
                  <a:pt x="0" y="4268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463759" y="3683406"/>
            <a:ext cx="3653977" cy="5989856"/>
            <a:chOff x="0" y="0"/>
            <a:chExt cx="1452263" cy="23806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2263" cy="2380651"/>
            </a:xfrm>
            <a:custGeom>
              <a:avLst/>
              <a:gdLst/>
              <a:ahLst/>
              <a:cxnLst/>
              <a:rect l="l" t="t" r="r" b="b"/>
              <a:pathLst>
                <a:path w="1452263" h="2380651">
                  <a:moveTo>
                    <a:pt x="48732" y="0"/>
                  </a:moveTo>
                  <a:lnTo>
                    <a:pt x="1403531" y="0"/>
                  </a:lnTo>
                  <a:cubicBezTo>
                    <a:pt x="1430445" y="0"/>
                    <a:pt x="1452263" y="21818"/>
                    <a:pt x="1452263" y="48732"/>
                  </a:cubicBezTo>
                  <a:lnTo>
                    <a:pt x="1452263" y="2331919"/>
                  </a:lnTo>
                  <a:cubicBezTo>
                    <a:pt x="1452263" y="2358833"/>
                    <a:pt x="1430445" y="2380651"/>
                    <a:pt x="1403531" y="2380651"/>
                  </a:cubicBezTo>
                  <a:lnTo>
                    <a:pt x="48732" y="2380651"/>
                  </a:lnTo>
                  <a:cubicBezTo>
                    <a:pt x="21818" y="2380651"/>
                    <a:pt x="0" y="2358833"/>
                    <a:pt x="0" y="2331919"/>
                  </a:cubicBezTo>
                  <a:lnTo>
                    <a:pt x="0" y="48732"/>
                  </a:lnTo>
                  <a:cubicBezTo>
                    <a:pt x="0" y="21818"/>
                    <a:pt x="21818" y="0"/>
                    <a:pt x="48732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52263" cy="2418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67009" y="3683406"/>
            <a:ext cx="3653977" cy="5989856"/>
            <a:chOff x="0" y="0"/>
            <a:chExt cx="1452263" cy="23806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52263" cy="2380651"/>
            </a:xfrm>
            <a:custGeom>
              <a:avLst/>
              <a:gdLst/>
              <a:ahLst/>
              <a:cxnLst/>
              <a:rect l="l" t="t" r="r" b="b"/>
              <a:pathLst>
                <a:path w="1452263" h="2380651">
                  <a:moveTo>
                    <a:pt x="48732" y="0"/>
                  </a:moveTo>
                  <a:lnTo>
                    <a:pt x="1403531" y="0"/>
                  </a:lnTo>
                  <a:cubicBezTo>
                    <a:pt x="1430445" y="0"/>
                    <a:pt x="1452263" y="21818"/>
                    <a:pt x="1452263" y="48732"/>
                  </a:cubicBezTo>
                  <a:lnTo>
                    <a:pt x="1452263" y="2331919"/>
                  </a:lnTo>
                  <a:cubicBezTo>
                    <a:pt x="1452263" y="2358833"/>
                    <a:pt x="1430445" y="2380651"/>
                    <a:pt x="1403531" y="2380651"/>
                  </a:cubicBezTo>
                  <a:lnTo>
                    <a:pt x="48732" y="2380651"/>
                  </a:lnTo>
                  <a:cubicBezTo>
                    <a:pt x="21818" y="2380651"/>
                    <a:pt x="0" y="2358833"/>
                    <a:pt x="0" y="2331919"/>
                  </a:cubicBezTo>
                  <a:lnTo>
                    <a:pt x="0" y="48732"/>
                  </a:lnTo>
                  <a:cubicBezTo>
                    <a:pt x="0" y="21818"/>
                    <a:pt x="21818" y="0"/>
                    <a:pt x="48732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52263" cy="2418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68636" y="3683406"/>
            <a:ext cx="3653977" cy="5989856"/>
            <a:chOff x="0" y="0"/>
            <a:chExt cx="1452263" cy="23806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2263" cy="2380651"/>
            </a:xfrm>
            <a:custGeom>
              <a:avLst/>
              <a:gdLst/>
              <a:ahLst/>
              <a:cxnLst/>
              <a:rect l="l" t="t" r="r" b="b"/>
              <a:pathLst>
                <a:path w="1452263" h="2380651">
                  <a:moveTo>
                    <a:pt x="48732" y="0"/>
                  </a:moveTo>
                  <a:lnTo>
                    <a:pt x="1403531" y="0"/>
                  </a:lnTo>
                  <a:cubicBezTo>
                    <a:pt x="1430445" y="0"/>
                    <a:pt x="1452263" y="21818"/>
                    <a:pt x="1452263" y="48732"/>
                  </a:cubicBezTo>
                  <a:lnTo>
                    <a:pt x="1452263" y="2331919"/>
                  </a:lnTo>
                  <a:cubicBezTo>
                    <a:pt x="1452263" y="2358833"/>
                    <a:pt x="1430445" y="2380651"/>
                    <a:pt x="1403531" y="2380651"/>
                  </a:cubicBezTo>
                  <a:lnTo>
                    <a:pt x="48732" y="2380651"/>
                  </a:lnTo>
                  <a:cubicBezTo>
                    <a:pt x="21818" y="2380651"/>
                    <a:pt x="0" y="2358833"/>
                    <a:pt x="0" y="2331919"/>
                  </a:cubicBezTo>
                  <a:lnTo>
                    <a:pt x="0" y="48732"/>
                  </a:lnTo>
                  <a:cubicBezTo>
                    <a:pt x="0" y="21818"/>
                    <a:pt x="21818" y="0"/>
                    <a:pt x="48732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52263" cy="2418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70264" y="3683406"/>
            <a:ext cx="3653977" cy="5989856"/>
            <a:chOff x="0" y="0"/>
            <a:chExt cx="1452263" cy="23806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2263" cy="2380651"/>
            </a:xfrm>
            <a:custGeom>
              <a:avLst/>
              <a:gdLst/>
              <a:ahLst/>
              <a:cxnLst/>
              <a:rect l="l" t="t" r="r" b="b"/>
              <a:pathLst>
                <a:path w="1452263" h="2380651">
                  <a:moveTo>
                    <a:pt x="48732" y="0"/>
                  </a:moveTo>
                  <a:lnTo>
                    <a:pt x="1403531" y="0"/>
                  </a:lnTo>
                  <a:cubicBezTo>
                    <a:pt x="1430445" y="0"/>
                    <a:pt x="1452263" y="21818"/>
                    <a:pt x="1452263" y="48732"/>
                  </a:cubicBezTo>
                  <a:lnTo>
                    <a:pt x="1452263" y="2331919"/>
                  </a:lnTo>
                  <a:cubicBezTo>
                    <a:pt x="1452263" y="2358833"/>
                    <a:pt x="1430445" y="2380651"/>
                    <a:pt x="1403531" y="2380651"/>
                  </a:cubicBezTo>
                  <a:lnTo>
                    <a:pt x="48732" y="2380651"/>
                  </a:lnTo>
                  <a:cubicBezTo>
                    <a:pt x="21818" y="2380651"/>
                    <a:pt x="0" y="2358833"/>
                    <a:pt x="0" y="2331919"/>
                  </a:cubicBezTo>
                  <a:lnTo>
                    <a:pt x="0" y="48732"/>
                  </a:lnTo>
                  <a:cubicBezTo>
                    <a:pt x="0" y="21818"/>
                    <a:pt x="21818" y="0"/>
                    <a:pt x="48732" y="0"/>
                  </a:cubicBezTo>
                  <a:close/>
                </a:path>
              </a:pathLst>
            </a:custGeom>
            <a:ln w="57150" cap="rnd">
              <a:solidFill>
                <a:srgbClr val="7E659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52263" cy="2418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826546" y="4521039"/>
            <a:ext cx="3002718" cy="1114759"/>
          </a:xfrm>
          <a:custGeom>
            <a:avLst/>
            <a:gdLst/>
            <a:ahLst/>
            <a:cxnLst/>
            <a:rect l="l" t="t" r="r" b="b"/>
            <a:pathLst>
              <a:path w="3002718" h="1114759">
                <a:moveTo>
                  <a:pt x="0" y="0"/>
                </a:moveTo>
                <a:lnTo>
                  <a:pt x="3002718" y="0"/>
                </a:lnTo>
                <a:lnTo>
                  <a:pt x="3002718" y="1114760"/>
                </a:lnTo>
                <a:lnTo>
                  <a:pt x="0" y="1114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745855" y="5518040"/>
            <a:ext cx="3116139" cy="1747959"/>
          </a:xfrm>
          <a:custGeom>
            <a:avLst/>
            <a:gdLst/>
            <a:ahLst/>
            <a:cxnLst/>
            <a:rect l="l" t="t" r="r" b="b"/>
            <a:pathLst>
              <a:path w="3116139" h="1747959">
                <a:moveTo>
                  <a:pt x="0" y="0"/>
                </a:moveTo>
                <a:lnTo>
                  <a:pt x="3116139" y="0"/>
                </a:lnTo>
                <a:lnTo>
                  <a:pt x="3116139" y="1747959"/>
                </a:lnTo>
                <a:lnTo>
                  <a:pt x="0" y="1747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1808453" y="7052874"/>
            <a:ext cx="2990943" cy="1682405"/>
          </a:xfrm>
          <a:custGeom>
            <a:avLst/>
            <a:gdLst/>
            <a:ahLst/>
            <a:cxnLst/>
            <a:rect l="l" t="t" r="r" b="b"/>
            <a:pathLst>
              <a:path w="2990943" h="1682405">
                <a:moveTo>
                  <a:pt x="0" y="0"/>
                </a:moveTo>
                <a:lnTo>
                  <a:pt x="2990943" y="0"/>
                </a:lnTo>
                <a:lnTo>
                  <a:pt x="2990943" y="1682405"/>
                </a:lnTo>
                <a:lnTo>
                  <a:pt x="0" y="1682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5491041" y="4613658"/>
            <a:ext cx="3405914" cy="1702957"/>
          </a:xfrm>
          <a:custGeom>
            <a:avLst/>
            <a:gdLst/>
            <a:ahLst/>
            <a:cxnLst/>
            <a:rect l="l" t="t" r="r" b="b"/>
            <a:pathLst>
              <a:path w="3405914" h="1702957">
                <a:moveTo>
                  <a:pt x="0" y="0"/>
                </a:moveTo>
                <a:lnTo>
                  <a:pt x="3405914" y="0"/>
                </a:lnTo>
                <a:lnTo>
                  <a:pt x="3405914" y="1702958"/>
                </a:lnTo>
                <a:lnTo>
                  <a:pt x="0" y="1702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9537517" y="6294450"/>
            <a:ext cx="3130124" cy="604505"/>
          </a:xfrm>
          <a:custGeom>
            <a:avLst/>
            <a:gdLst/>
            <a:ahLst/>
            <a:cxnLst/>
            <a:rect l="l" t="t" r="r" b="b"/>
            <a:pathLst>
              <a:path w="3130124" h="604505">
                <a:moveTo>
                  <a:pt x="0" y="0"/>
                </a:moveTo>
                <a:lnTo>
                  <a:pt x="3130124" y="0"/>
                </a:lnTo>
                <a:lnTo>
                  <a:pt x="3130124" y="604505"/>
                </a:lnTo>
                <a:lnTo>
                  <a:pt x="0" y="6045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9721800" y="7073295"/>
            <a:ext cx="2747651" cy="1261217"/>
          </a:xfrm>
          <a:custGeom>
            <a:avLst/>
            <a:gdLst/>
            <a:ahLst/>
            <a:cxnLst/>
            <a:rect l="l" t="t" r="r" b="b"/>
            <a:pathLst>
              <a:path w="2747651" h="1261217">
                <a:moveTo>
                  <a:pt x="0" y="0"/>
                </a:moveTo>
                <a:lnTo>
                  <a:pt x="2747651" y="0"/>
                </a:lnTo>
                <a:lnTo>
                  <a:pt x="2747651" y="1261217"/>
                </a:lnTo>
                <a:lnTo>
                  <a:pt x="0" y="12612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9753252" y="3961429"/>
            <a:ext cx="2459051" cy="832491"/>
          </a:xfrm>
          <a:custGeom>
            <a:avLst/>
            <a:gdLst/>
            <a:ahLst/>
            <a:cxnLst/>
            <a:rect l="l" t="t" r="r" b="b"/>
            <a:pathLst>
              <a:path w="2459051" h="832491">
                <a:moveTo>
                  <a:pt x="0" y="0"/>
                </a:moveTo>
                <a:lnTo>
                  <a:pt x="2459052" y="0"/>
                </a:lnTo>
                <a:lnTo>
                  <a:pt x="2459052" y="832491"/>
                </a:lnTo>
                <a:lnTo>
                  <a:pt x="0" y="832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9564011" y="5193970"/>
            <a:ext cx="3063227" cy="789251"/>
          </a:xfrm>
          <a:custGeom>
            <a:avLst/>
            <a:gdLst/>
            <a:ahLst/>
            <a:cxnLst/>
            <a:rect l="l" t="t" r="r" b="b"/>
            <a:pathLst>
              <a:path w="3063227" h="789251">
                <a:moveTo>
                  <a:pt x="0" y="0"/>
                </a:moveTo>
                <a:lnTo>
                  <a:pt x="3063228" y="0"/>
                </a:lnTo>
                <a:lnTo>
                  <a:pt x="3063228" y="789251"/>
                </a:lnTo>
                <a:lnTo>
                  <a:pt x="0" y="7892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570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8" name="Freeform 28"/>
          <p:cNvSpPr/>
          <p:nvPr/>
        </p:nvSpPr>
        <p:spPr>
          <a:xfrm>
            <a:off x="9646428" y="8508852"/>
            <a:ext cx="3021213" cy="800621"/>
          </a:xfrm>
          <a:custGeom>
            <a:avLst/>
            <a:gdLst/>
            <a:ahLst/>
            <a:cxnLst/>
            <a:rect l="l" t="t" r="r" b="b"/>
            <a:pathLst>
              <a:path w="3021213" h="800621">
                <a:moveTo>
                  <a:pt x="0" y="0"/>
                </a:moveTo>
                <a:lnTo>
                  <a:pt x="3021213" y="0"/>
                </a:lnTo>
                <a:lnTo>
                  <a:pt x="3021213" y="800621"/>
                </a:lnTo>
                <a:lnTo>
                  <a:pt x="0" y="8006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9" name="Freeform 29"/>
          <p:cNvSpPr/>
          <p:nvPr/>
        </p:nvSpPr>
        <p:spPr>
          <a:xfrm>
            <a:off x="13320572" y="3961429"/>
            <a:ext cx="3353362" cy="2045551"/>
          </a:xfrm>
          <a:custGeom>
            <a:avLst/>
            <a:gdLst/>
            <a:ahLst/>
            <a:cxnLst/>
            <a:rect l="l" t="t" r="r" b="b"/>
            <a:pathLst>
              <a:path w="3353362" h="2045551">
                <a:moveTo>
                  <a:pt x="0" y="0"/>
                </a:moveTo>
                <a:lnTo>
                  <a:pt x="3353362" y="0"/>
                </a:lnTo>
                <a:lnTo>
                  <a:pt x="3353362" y="2045551"/>
                </a:lnTo>
                <a:lnTo>
                  <a:pt x="0" y="2045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0" name="Freeform 30"/>
          <p:cNvSpPr/>
          <p:nvPr/>
        </p:nvSpPr>
        <p:spPr>
          <a:xfrm>
            <a:off x="5647942" y="5954965"/>
            <a:ext cx="3080460" cy="3080460"/>
          </a:xfrm>
          <a:custGeom>
            <a:avLst/>
            <a:gdLst/>
            <a:ahLst/>
            <a:cxnLst/>
            <a:rect l="l" t="t" r="r" b="b"/>
            <a:pathLst>
              <a:path w="3080460" h="3080460">
                <a:moveTo>
                  <a:pt x="0" y="0"/>
                </a:moveTo>
                <a:lnTo>
                  <a:pt x="3080459" y="0"/>
                </a:lnTo>
                <a:lnTo>
                  <a:pt x="3080459" y="3080460"/>
                </a:lnTo>
                <a:lnTo>
                  <a:pt x="0" y="30804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1" name="Freeform 31"/>
          <p:cNvSpPr/>
          <p:nvPr/>
        </p:nvSpPr>
        <p:spPr>
          <a:xfrm>
            <a:off x="13320572" y="6426831"/>
            <a:ext cx="3353362" cy="503004"/>
          </a:xfrm>
          <a:custGeom>
            <a:avLst/>
            <a:gdLst/>
            <a:ahLst/>
            <a:cxnLst/>
            <a:rect l="l" t="t" r="r" b="b"/>
            <a:pathLst>
              <a:path w="3353362" h="503004">
                <a:moveTo>
                  <a:pt x="0" y="0"/>
                </a:moveTo>
                <a:lnTo>
                  <a:pt x="3353362" y="0"/>
                </a:lnTo>
                <a:lnTo>
                  <a:pt x="3353362" y="503005"/>
                </a:lnTo>
                <a:lnTo>
                  <a:pt x="0" y="503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2" name="Freeform 32"/>
          <p:cNvSpPr/>
          <p:nvPr/>
        </p:nvSpPr>
        <p:spPr>
          <a:xfrm>
            <a:off x="13653666" y="7495195"/>
            <a:ext cx="2742668" cy="1028501"/>
          </a:xfrm>
          <a:custGeom>
            <a:avLst/>
            <a:gdLst/>
            <a:ahLst/>
            <a:cxnLst/>
            <a:rect l="l" t="t" r="r" b="b"/>
            <a:pathLst>
              <a:path w="2742668" h="1028501">
                <a:moveTo>
                  <a:pt x="0" y="0"/>
                </a:moveTo>
                <a:lnTo>
                  <a:pt x="2742669" y="0"/>
                </a:lnTo>
                <a:lnTo>
                  <a:pt x="2742669" y="1028501"/>
                </a:lnTo>
                <a:lnTo>
                  <a:pt x="0" y="10285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Box 33"/>
          <p:cNvSpPr txBox="1"/>
          <p:nvPr/>
        </p:nvSpPr>
        <p:spPr>
          <a:xfrm>
            <a:off x="1463759" y="2801072"/>
            <a:ext cx="3653977" cy="75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907" u="none" strike="noStrike">
                <a:solidFill>
                  <a:srgbClr val="7A5EA8"/>
                </a:solidFill>
                <a:latin typeface="Bree Serif"/>
                <a:ea typeface="Bree Serif"/>
                <a:cs typeface="Bree Serif"/>
                <a:sym typeface="Bree Serif"/>
              </a:rPr>
              <a:t>Gestión y control de versiones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67009" y="2882613"/>
            <a:ext cx="3653977" cy="4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>
                <a:solidFill>
                  <a:srgbClr val="7A5EA8"/>
                </a:solidFill>
                <a:latin typeface="Bree Serif"/>
                <a:ea typeface="Bree Serif"/>
                <a:cs typeface="Bree Serif"/>
                <a:sym typeface="Bree Serif"/>
              </a:rPr>
              <a:t>Programación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32523" y="2801072"/>
            <a:ext cx="2649022" cy="75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07">
                <a:solidFill>
                  <a:srgbClr val="7A5EA8"/>
                </a:solidFill>
                <a:latin typeface="Bree Serif"/>
                <a:ea typeface="Bree Serif"/>
                <a:cs typeface="Bree Serif"/>
                <a:sym typeface="Bree Serif"/>
              </a:rPr>
              <a:t>Framework y base de datos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65823" y="2882613"/>
            <a:ext cx="3462858" cy="4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>
                <a:solidFill>
                  <a:srgbClr val="7A5EA8"/>
                </a:solidFill>
                <a:latin typeface="Bree Serif"/>
                <a:ea typeface="Bree Serif"/>
                <a:cs typeface="Bree Serif"/>
                <a:sym typeface="Bree Serif"/>
              </a:rPr>
              <a:t>Diseño y prototipo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9933" y="2297645"/>
            <a:ext cx="18108133" cy="7714039"/>
            <a:chOff x="0" y="0"/>
            <a:chExt cx="24144178" cy="10285386"/>
          </a:xfrm>
        </p:grpSpPr>
        <p:sp>
          <p:nvSpPr>
            <p:cNvPr id="5" name="Freeform 5"/>
            <p:cNvSpPr/>
            <p:nvPr/>
          </p:nvSpPr>
          <p:spPr>
            <a:xfrm>
              <a:off x="14362464" y="0"/>
              <a:ext cx="4909596" cy="10285386"/>
            </a:xfrm>
            <a:custGeom>
              <a:avLst/>
              <a:gdLst/>
              <a:ahLst/>
              <a:cxnLst/>
              <a:rect l="l" t="t" r="r" b="b"/>
              <a:pathLst>
                <a:path w="4909596" h="10285386">
                  <a:moveTo>
                    <a:pt x="0" y="0"/>
                  </a:moveTo>
                  <a:lnTo>
                    <a:pt x="4909596" y="0"/>
                  </a:lnTo>
                  <a:lnTo>
                    <a:pt x="4909596" y="10285386"/>
                  </a:lnTo>
                  <a:lnTo>
                    <a:pt x="0" y="1028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4521378" cy="10285386"/>
            </a:xfrm>
            <a:custGeom>
              <a:avLst/>
              <a:gdLst/>
              <a:ahLst/>
              <a:cxnLst/>
              <a:rect l="l" t="t" r="r" b="b"/>
              <a:pathLst>
                <a:path w="4521378" h="10285386">
                  <a:moveTo>
                    <a:pt x="0" y="0"/>
                  </a:moveTo>
                  <a:lnTo>
                    <a:pt x="4521378" y="0"/>
                  </a:lnTo>
                  <a:lnTo>
                    <a:pt x="4521378" y="10285386"/>
                  </a:lnTo>
                  <a:lnTo>
                    <a:pt x="0" y="1028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9473717" y="0"/>
              <a:ext cx="4799847" cy="10285386"/>
            </a:xfrm>
            <a:custGeom>
              <a:avLst/>
              <a:gdLst/>
              <a:ahLst/>
              <a:cxnLst/>
              <a:rect l="l" t="t" r="r" b="b"/>
              <a:pathLst>
                <a:path w="4799847" h="10285386">
                  <a:moveTo>
                    <a:pt x="0" y="0"/>
                  </a:moveTo>
                  <a:lnTo>
                    <a:pt x="4799847" y="0"/>
                  </a:lnTo>
                  <a:lnTo>
                    <a:pt x="4799847" y="10285386"/>
                  </a:lnTo>
                  <a:lnTo>
                    <a:pt x="0" y="1028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19360960" y="0"/>
              <a:ext cx="4783218" cy="10285386"/>
            </a:xfrm>
            <a:custGeom>
              <a:avLst/>
              <a:gdLst/>
              <a:ahLst/>
              <a:cxnLst/>
              <a:rect l="l" t="t" r="r" b="b"/>
              <a:pathLst>
                <a:path w="4783218" h="10285386">
                  <a:moveTo>
                    <a:pt x="0" y="0"/>
                  </a:moveTo>
                  <a:lnTo>
                    <a:pt x="4783218" y="0"/>
                  </a:lnTo>
                  <a:lnTo>
                    <a:pt x="4783218" y="10285386"/>
                  </a:lnTo>
                  <a:lnTo>
                    <a:pt x="0" y="1028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4612213" y="0"/>
              <a:ext cx="4770668" cy="10285386"/>
            </a:xfrm>
            <a:custGeom>
              <a:avLst/>
              <a:gdLst/>
              <a:ahLst/>
              <a:cxnLst/>
              <a:rect l="l" t="t" r="r" b="b"/>
              <a:pathLst>
                <a:path w="4770668" h="10285386">
                  <a:moveTo>
                    <a:pt x="0" y="0"/>
                  </a:moveTo>
                  <a:lnTo>
                    <a:pt x="4770668" y="0"/>
                  </a:lnTo>
                  <a:lnTo>
                    <a:pt x="4770668" y="10285386"/>
                  </a:lnTo>
                  <a:lnTo>
                    <a:pt x="0" y="1028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44427" y="520522"/>
            <a:ext cx="5754731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9"/>
              </a:lnSpc>
              <a:spcBef>
                <a:spcPct val="0"/>
              </a:spcBef>
            </a:pPr>
            <a:r>
              <a:rPr lang="en-US" sz="9999" u="none" strike="noStrike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wireframes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4427" y="1755596"/>
            <a:ext cx="8738463" cy="4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907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Wireframes realizados con Balsamiq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600925" y="4091748"/>
            <a:ext cx="11086150" cy="127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9"/>
              </a:lnSpc>
              <a:spcBef>
                <a:spcPct val="0"/>
              </a:spcBef>
            </a:pPr>
            <a:r>
              <a:rPr lang="en-US" sz="99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PROTOTIPOS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74768" y="5323647"/>
            <a:ext cx="8738463" cy="4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Flujo de navegación</a:t>
            </a:r>
          </a:p>
        </p:txBody>
      </p:sp>
      <p:sp>
        <p:nvSpPr>
          <p:cNvPr id="6" name="Freeform 6"/>
          <p:cNvSpPr/>
          <p:nvPr/>
        </p:nvSpPr>
        <p:spPr>
          <a:xfrm flipV="1">
            <a:off x="-1355938" y="8404317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V="1">
            <a:off x="-1750203" y="9008877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369093" y="2087946"/>
            <a:ext cx="7766406" cy="5686107"/>
            <a:chOff x="0" y="0"/>
            <a:chExt cx="3086735" cy="22599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86735" cy="2259927"/>
            </a:xfrm>
            <a:custGeom>
              <a:avLst/>
              <a:gdLst/>
              <a:ahLst/>
              <a:cxnLst/>
              <a:rect l="l" t="t" r="r" b="b"/>
              <a:pathLst>
                <a:path w="3086735" h="2259927">
                  <a:moveTo>
                    <a:pt x="22927" y="0"/>
                  </a:moveTo>
                  <a:lnTo>
                    <a:pt x="3063808" y="0"/>
                  </a:lnTo>
                  <a:cubicBezTo>
                    <a:pt x="3069889" y="0"/>
                    <a:pt x="3075720" y="2416"/>
                    <a:pt x="3080020" y="6715"/>
                  </a:cubicBezTo>
                  <a:cubicBezTo>
                    <a:pt x="3084320" y="11015"/>
                    <a:pt x="3086735" y="16847"/>
                    <a:pt x="3086735" y="22927"/>
                  </a:cubicBezTo>
                  <a:lnTo>
                    <a:pt x="3086735" y="2236999"/>
                  </a:lnTo>
                  <a:cubicBezTo>
                    <a:pt x="3086735" y="2243080"/>
                    <a:pt x="3084320" y="2248912"/>
                    <a:pt x="3080020" y="2253211"/>
                  </a:cubicBezTo>
                  <a:cubicBezTo>
                    <a:pt x="3075720" y="2257511"/>
                    <a:pt x="3069889" y="2259927"/>
                    <a:pt x="3063808" y="2259927"/>
                  </a:cubicBezTo>
                  <a:lnTo>
                    <a:pt x="22927" y="2259927"/>
                  </a:lnTo>
                  <a:cubicBezTo>
                    <a:pt x="16847" y="2259927"/>
                    <a:pt x="11015" y="2257511"/>
                    <a:pt x="6715" y="2253211"/>
                  </a:cubicBezTo>
                  <a:cubicBezTo>
                    <a:pt x="2416" y="2248912"/>
                    <a:pt x="0" y="2243080"/>
                    <a:pt x="0" y="2236999"/>
                  </a:cubicBezTo>
                  <a:lnTo>
                    <a:pt x="0" y="22927"/>
                  </a:lnTo>
                  <a:cubicBezTo>
                    <a:pt x="0" y="16847"/>
                    <a:pt x="2416" y="11015"/>
                    <a:pt x="6715" y="6715"/>
                  </a:cubicBezTo>
                  <a:cubicBezTo>
                    <a:pt x="11015" y="2416"/>
                    <a:pt x="16847" y="0"/>
                    <a:pt x="22927" y="0"/>
                  </a:cubicBezTo>
                  <a:close/>
                </a:path>
              </a:pathLst>
            </a:custGeom>
            <a:ln w="571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86735" cy="229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46491" y="4195291"/>
            <a:ext cx="7411610" cy="332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Sección "Destacados" con buscador y filtros (Todos / Gratis / Cerca de mí), reemplazando listados genéricos por una selección breve de lugares.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76326" y="2655918"/>
            <a:ext cx="6351940" cy="140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4"/>
              </a:lnSpc>
              <a:spcBef>
                <a:spcPct val="0"/>
              </a:spcBef>
            </a:pPr>
            <a:r>
              <a:rPr lang="en-US" sz="56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¿cómo responde a la problemática?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25828" y="527621"/>
            <a:ext cx="4405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Inicio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68493" y="1290731"/>
            <a:ext cx="4519780" cy="8229600"/>
          </a:xfrm>
          <a:custGeom>
            <a:avLst/>
            <a:gdLst/>
            <a:ahLst/>
            <a:cxnLst/>
            <a:rect l="l" t="t" r="r" b="b"/>
            <a:pathLst>
              <a:path w="4519780" h="8229600">
                <a:moveTo>
                  <a:pt x="0" y="0"/>
                </a:moveTo>
                <a:lnTo>
                  <a:pt x="4519780" y="0"/>
                </a:lnTo>
                <a:lnTo>
                  <a:pt x="45197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369093" y="2087946"/>
            <a:ext cx="7766406" cy="5686107"/>
            <a:chOff x="0" y="0"/>
            <a:chExt cx="3086735" cy="22599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86735" cy="2259927"/>
            </a:xfrm>
            <a:custGeom>
              <a:avLst/>
              <a:gdLst/>
              <a:ahLst/>
              <a:cxnLst/>
              <a:rect l="l" t="t" r="r" b="b"/>
              <a:pathLst>
                <a:path w="3086735" h="2259927">
                  <a:moveTo>
                    <a:pt x="22927" y="0"/>
                  </a:moveTo>
                  <a:lnTo>
                    <a:pt x="3063808" y="0"/>
                  </a:lnTo>
                  <a:cubicBezTo>
                    <a:pt x="3069889" y="0"/>
                    <a:pt x="3075720" y="2416"/>
                    <a:pt x="3080020" y="6715"/>
                  </a:cubicBezTo>
                  <a:cubicBezTo>
                    <a:pt x="3084320" y="11015"/>
                    <a:pt x="3086735" y="16847"/>
                    <a:pt x="3086735" y="22927"/>
                  </a:cubicBezTo>
                  <a:lnTo>
                    <a:pt x="3086735" y="2236999"/>
                  </a:lnTo>
                  <a:cubicBezTo>
                    <a:pt x="3086735" y="2243080"/>
                    <a:pt x="3084320" y="2248912"/>
                    <a:pt x="3080020" y="2253211"/>
                  </a:cubicBezTo>
                  <a:cubicBezTo>
                    <a:pt x="3075720" y="2257511"/>
                    <a:pt x="3069889" y="2259927"/>
                    <a:pt x="3063808" y="2259927"/>
                  </a:cubicBezTo>
                  <a:lnTo>
                    <a:pt x="22927" y="2259927"/>
                  </a:lnTo>
                  <a:cubicBezTo>
                    <a:pt x="16847" y="2259927"/>
                    <a:pt x="11015" y="2257511"/>
                    <a:pt x="6715" y="2253211"/>
                  </a:cubicBezTo>
                  <a:cubicBezTo>
                    <a:pt x="2416" y="2248912"/>
                    <a:pt x="0" y="2243080"/>
                    <a:pt x="0" y="2236999"/>
                  </a:cubicBezTo>
                  <a:lnTo>
                    <a:pt x="0" y="22927"/>
                  </a:lnTo>
                  <a:cubicBezTo>
                    <a:pt x="0" y="16847"/>
                    <a:pt x="2416" y="11015"/>
                    <a:pt x="6715" y="6715"/>
                  </a:cubicBezTo>
                  <a:cubicBezTo>
                    <a:pt x="11015" y="2416"/>
                    <a:pt x="16847" y="0"/>
                    <a:pt x="22927" y="0"/>
                  </a:cubicBezTo>
                  <a:close/>
                </a:path>
              </a:pathLst>
            </a:custGeom>
            <a:ln w="571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86735" cy="229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46491" y="4195291"/>
            <a:ext cx="7411610" cy="332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Fi</a:t>
            </a:r>
            <a:r>
              <a:rPr lang="en-US" sz="3800" u="none" strike="noStrike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ltra por categoría, comuna y gratuidad, y muestra pines geolocalizados que ayudan a descubrir lugares poco conocidos y armar recorridos reales.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76326" y="2655918"/>
            <a:ext cx="6351940" cy="140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4"/>
              </a:lnSpc>
              <a:spcBef>
                <a:spcPct val="0"/>
              </a:spcBef>
            </a:pPr>
            <a:r>
              <a:rPr lang="en-US" sz="56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¿cómo responde a la problemática?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25828" y="527621"/>
            <a:ext cx="4405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Mapa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58493" y="1302779"/>
            <a:ext cx="4539779" cy="8229600"/>
          </a:xfrm>
          <a:custGeom>
            <a:avLst/>
            <a:gdLst/>
            <a:ahLst/>
            <a:cxnLst/>
            <a:rect l="l" t="t" r="r" b="b"/>
            <a:pathLst>
              <a:path w="4539779" h="8229600">
                <a:moveTo>
                  <a:pt x="0" y="0"/>
                </a:moveTo>
                <a:lnTo>
                  <a:pt x="4539780" y="0"/>
                </a:lnTo>
                <a:lnTo>
                  <a:pt x="45397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69093" y="2087946"/>
            <a:ext cx="7766406" cy="5310325"/>
            <a:chOff x="0" y="0"/>
            <a:chExt cx="3086735" cy="2110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86735" cy="2110573"/>
            </a:xfrm>
            <a:custGeom>
              <a:avLst/>
              <a:gdLst/>
              <a:ahLst/>
              <a:cxnLst/>
              <a:rect l="l" t="t" r="r" b="b"/>
              <a:pathLst>
                <a:path w="3086735" h="2110573">
                  <a:moveTo>
                    <a:pt x="22927" y="0"/>
                  </a:moveTo>
                  <a:lnTo>
                    <a:pt x="3063808" y="0"/>
                  </a:lnTo>
                  <a:cubicBezTo>
                    <a:pt x="3069889" y="0"/>
                    <a:pt x="3075720" y="2416"/>
                    <a:pt x="3080020" y="6715"/>
                  </a:cubicBezTo>
                  <a:cubicBezTo>
                    <a:pt x="3084320" y="11015"/>
                    <a:pt x="3086735" y="16847"/>
                    <a:pt x="3086735" y="22927"/>
                  </a:cubicBezTo>
                  <a:lnTo>
                    <a:pt x="3086735" y="2087645"/>
                  </a:lnTo>
                  <a:cubicBezTo>
                    <a:pt x="3086735" y="2093726"/>
                    <a:pt x="3084320" y="2099558"/>
                    <a:pt x="3080020" y="2103858"/>
                  </a:cubicBezTo>
                  <a:cubicBezTo>
                    <a:pt x="3075720" y="2108157"/>
                    <a:pt x="3069889" y="2110573"/>
                    <a:pt x="3063808" y="2110573"/>
                  </a:cubicBezTo>
                  <a:lnTo>
                    <a:pt x="22927" y="2110573"/>
                  </a:lnTo>
                  <a:cubicBezTo>
                    <a:pt x="16847" y="2110573"/>
                    <a:pt x="11015" y="2108157"/>
                    <a:pt x="6715" y="2103858"/>
                  </a:cubicBezTo>
                  <a:cubicBezTo>
                    <a:pt x="2416" y="2099558"/>
                    <a:pt x="0" y="2093726"/>
                    <a:pt x="0" y="2087645"/>
                  </a:cubicBezTo>
                  <a:lnTo>
                    <a:pt x="0" y="22927"/>
                  </a:lnTo>
                  <a:cubicBezTo>
                    <a:pt x="0" y="16847"/>
                    <a:pt x="2416" y="11015"/>
                    <a:pt x="6715" y="6715"/>
                  </a:cubicBezTo>
                  <a:cubicBezTo>
                    <a:pt x="11015" y="2416"/>
                    <a:pt x="16847" y="0"/>
                    <a:pt x="22927" y="0"/>
                  </a:cubicBezTo>
                  <a:close/>
                </a:path>
              </a:pathLst>
            </a:custGeom>
            <a:ln w="571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86735" cy="2148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546491" y="4195291"/>
            <a:ext cx="7411610" cy="265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E</a:t>
            </a:r>
            <a:r>
              <a:rPr lang="en-US" sz="3800" u="none" strike="noStrike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l mensaje "Registra tus visitas y gana medallas explorando Santiago" presenta la gamificación desde el inicio.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25828" y="481330"/>
            <a:ext cx="4405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Registro de usuario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76326" y="2655918"/>
            <a:ext cx="6351940" cy="140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4"/>
              </a:lnSpc>
              <a:spcBef>
                <a:spcPct val="0"/>
              </a:spcBef>
            </a:pPr>
            <a:r>
              <a:rPr lang="en-US" sz="56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¿cómo responde a la problemática?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65743" y="1174875"/>
            <a:ext cx="4525279" cy="8229600"/>
          </a:xfrm>
          <a:custGeom>
            <a:avLst/>
            <a:gdLst/>
            <a:ahLst/>
            <a:cxnLst/>
            <a:rect l="l" t="t" r="r" b="b"/>
            <a:pathLst>
              <a:path w="4525279" h="8229600">
                <a:moveTo>
                  <a:pt x="0" y="0"/>
                </a:moveTo>
                <a:lnTo>
                  <a:pt x="4525279" y="0"/>
                </a:lnTo>
                <a:lnTo>
                  <a:pt x="452527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369093" y="2087946"/>
            <a:ext cx="7766406" cy="5592162"/>
            <a:chOff x="0" y="0"/>
            <a:chExt cx="3086735" cy="22225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86735" cy="2222588"/>
            </a:xfrm>
            <a:custGeom>
              <a:avLst/>
              <a:gdLst/>
              <a:ahLst/>
              <a:cxnLst/>
              <a:rect l="l" t="t" r="r" b="b"/>
              <a:pathLst>
                <a:path w="3086735" h="2222588">
                  <a:moveTo>
                    <a:pt x="22927" y="0"/>
                  </a:moveTo>
                  <a:lnTo>
                    <a:pt x="3063808" y="0"/>
                  </a:lnTo>
                  <a:cubicBezTo>
                    <a:pt x="3069889" y="0"/>
                    <a:pt x="3075720" y="2416"/>
                    <a:pt x="3080020" y="6715"/>
                  </a:cubicBezTo>
                  <a:cubicBezTo>
                    <a:pt x="3084320" y="11015"/>
                    <a:pt x="3086735" y="16847"/>
                    <a:pt x="3086735" y="22927"/>
                  </a:cubicBezTo>
                  <a:lnTo>
                    <a:pt x="3086735" y="2199661"/>
                  </a:lnTo>
                  <a:cubicBezTo>
                    <a:pt x="3086735" y="2205742"/>
                    <a:pt x="3084320" y="2211573"/>
                    <a:pt x="3080020" y="2215873"/>
                  </a:cubicBezTo>
                  <a:cubicBezTo>
                    <a:pt x="3075720" y="2220173"/>
                    <a:pt x="3069889" y="2222588"/>
                    <a:pt x="3063808" y="2222588"/>
                  </a:cubicBezTo>
                  <a:lnTo>
                    <a:pt x="22927" y="2222588"/>
                  </a:lnTo>
                  <a:cubicBezTo>
                    <a:pt x="16847" y="2222588"/>
                    <a:pt x="11015" y="2220173"/>
                    <a:pt x="6715" y="2215873"/>
                  </a:cubicBezTo>
                  <a:cubicBezTo>
                    <a:pt x="2416" y="2211573"/>
                    <a:pt x="0" y="2205742"/>
                    <a:pt x="0" y="2199661"/>
                  </a:cubicBezTo>
                  <a:lnTo>
                    <a:pt x="0" y="22927"/>
                  </a:lnTo>
                  <a:cubicBezTo>
                    <a:pt x="0" y="16847"/>
                    <a:pt x="2416" y="11015"/>
                    <a:pt x="6715" y="6715"/>
                  </a:cubicBezTo>
                  <a:cubicBezTo>
                    <a:pt x="11015" y="2416"/>
                    <a:pt x="16847" y="0"/>
                    <a:pt x="22927" y="0"/>
                  </a:cubicBezTo>
                  <a:close/>
                </a:path>
              </a:pathLst>
            </a:custGeom>
            <a:ln w="571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86735" cy="2260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25828" y="527621"/>
            <a:ext cx="4405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Inicio de sesión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46491" y="4195291"/>
            <a:ext cx="7589008" cy="332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Ofrece </a:t>
            </a:r>
            <a:r>
              <a:rPr lang="en-US" sz="3800" u="none" strike="noStrike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la opción "Seguir explorando sin cuenta", reduciendo la fricción para descubrir lugares nuevos sin barreras de entrada.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76326" y="2655918"/>
            <a:ext cx="6351940" cy="140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4"/>
              </a:lnSpc>
              <a:spcBef>
                <a:spcPct val="0"/>
              </a:spcBef>
            </a:pPr>
            <a:r>
              <a:rPr lang="en-US" sz="56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¿cómo responde a la problemática?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73971" y="1229691"/>
            <a:ext cx="4508823" cy="8229600"/>
          </a:xfrm>
          <a:custGeom>
            <a:avLst/>
            <a:gdLst/>
            <a:ahLst/>
            <a:cxnLst/>
            <a:rect l="l" t="t" r="r" b="b"/>
            <a:pathLst>
              <a:path w="4508823" h="8229600">
                <a:moveTo>
                  <a:pt x="0" y="0"/>
                </a:moveTo>
                <a:lnTo>
                  <a:pt x="4508824" y="0"/>
                </a:lnTo>
                <a:lnTo>
                  <a:pt x="45088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369093" y="2087946"/>
            <a:ext cx="7766406" cy="5310325"/>
            <a:chOff x="0" y="0"/>
            <a:chExt cx="3086735" cy="21105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86735" cy="2110573"/>
            </a:xfrm>
            <a:custGeom>
              <a:avLst/>
              <a:gdLst/>
              <a:ahLst/>
              <a:cxnLst/>
              <a:rect l="l" t="t" r="r" b="b"/>
              <a:pathLst>
                <a:path w="3086735" h="2110573">
                  <a:moveTo>
                    <a:pt x="22927" y="0"/>
                  </a:moveTo>
                  <a:lnTo>
                    <a:pt x="3063808" y="0"/>
                  </a:lnTo>
                  <a:cubicBezTo>
                    <a:pt x="3069889" y="0"/>
                    <a:pt x="3075720" y="2416"/>
                    <a:pt x="3080020" y="6715"/>
                  </a:cubicBezTo>
                  <a:cubicBezTo>
                    <a:pt x="3084320" y="11015"/>
                    <a:pt x="3086735" y="16847"/>
                    <a:pt x="3086735" y="22927"/>
                  </a:cubicBezTo>
                  <a:lnTo>
                    <a:pt x="3086735" y="2087645"/>
                  </a:lnTo>
                  <a:cubicBezTo>
                    <a:pt x="3086735" y="2093726"/>
                    <a:pt x="3084320" y="2099558"/>
                    <a:pt x="3080020" y="2103858"/>
                  </a:cubicBezTo>
                  <a:cubicBezTo>
                    <a:pt x="3075720" y="2108157"/>
                    <a:pt x="3069889" y="2110573"/>
                    <a:pt x="3063808" y="2110573"/>
                  </a:cubicBezTo>
                  <a:lnTo>
                    <a:pt x="22927" y="2110573"/>
                  </a:lnTo>
                  <a:cubicBezTo>
                    <a:pt x="16847" y="2110573"/>
                    <a:pt x="11015" y="2108157"/>
                    <a:pt x="6715" y="2103858"/>
                  </a:cubicBezTo>
                  <a:cubicBezTo>
                    <a:pt x="2416" y="2099558"/>
                    <a:pt x="0" y="2093726"/>
                    <a:pt x="0" y="2087645"/>
                  </a:cubicBezTo>
                  <a:lnTo>
                    <a:pt x="0" y="22927"/>
                  </a:lnTo>
                  <a:cubicBezTo>
                    <a:pt x="0" y="16847"/>
                    <a:pt x="2416" y="11015"/>
                    <a:pt x="6715" y="6715"/>
                  </a:cubicBezTo>
                  <a:cubicBezTo>
                    <a:pt x="11015" y="2416"/>
                    <a:pt x="16847" y="0"/>
                    <a:pt x="22927" y="0"/>
                  </a:cubicBezTo>
                  <a:close/>
                </a:path>
              </a:pathLst>
            </a:custGeom>
            <a:ln w="571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86735" cy="2148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46491" y="4657383"/>
            <a:ext cx="7411610" cy="1989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Contador</a:t>
            </a:r>
            <a:r>
              <a:rPr lang="en-US" sz="3800" u="none" strike="noStrike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 de Lugares, Medallas y Categorías visitadas que premian comportamientos de exploración.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76326" y="2655918"/>
            <a:ext cx="6351940" cy="140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4"/>
              </a:lnSpc>
              <a:spcBef>
                <a:spcPct val="0"/>
              </a:spcBef>
            </a:pPr>
            <a:r>
              <a:rPr lang="en-US" sz="5699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¿cómo responde a la problemática?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25828" y="527621"/>
            <a:ext cx="4405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2EFEC"/>
                </a:solidFill>
                <a:latin typeface="Bree Serif"/>
                <a:ea typeface="Bree Serif"/>
                <a:cs typeface="Bree Serif"/>
                <a:sym typeface="Bree Serif"/>
              </a:rPr>
              <a:t>Mi perfil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63493" y="1229691"/>
            <a:ext cx="4529780" cy="8229600"/>
          </a:xfrm>
          <a:custGeom>
            <a:avLst/>
            <a:gdLst/>
            <a:ahLst/>
            <a:cxnLst/>
            <a:rect l="l" t="t" r="r" b="b"/>
            <a:pathLst>
              <a:path w="4529780" h="8229600">
                <a:moveTo>
                  <a:pt x="0" y="0"/>
                </a:moveTo>
                <a:lnTo>
                  <a:pt x="4529780" y="0"/>
                </a:lnTo>
                <a:lnTo>
                  <a:pt x="45297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3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0161" y="3038475"/>
            <a:ext cx="9027677" cy="391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A986CC"/>
                </a:solidFill>
                <a:latin typeface="Luducudu"/>
                <a:ea typeface="Luducudu"/>
                <a:cs typeface="Luducudu"/>
                <a:sym typeface="Luducudu"/>
              </a:rPr>
              <a:t>Gracias por su atención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12568813" y="-24024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V="1">
            <a:off x="13275905" y="-1066396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8" y="2537890"/>
                </a:lnTo>
                <a:lnTo>
                  <a:pt x="5719188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V="1">
            <a:off x="-530870" y="8253967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89"/>
                </a:moveTo>
                <a:lnTo>
                  <a:pt x="5719187" y="2537889"/>
                </a:lnTo>
                <a:lnTo>
                  <a:pt x="5719187" y="0"/>
                </a:lnTo>
                <a:lnTo>
                  <a:pt x="0" y="0"/>
                </a:lnTo>
                <a:lnTo>
                  <a:pt x="0" y="25378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V="1">
            <a:off x="-804583" y="9018055"/>
            <a:ext cx="5719187" cy="2537889"/>
          </a:xfrm>
          <a:custGeom>
            <a:avLst/>
            <a:gdLst/>
            <a:ahLst/>
            <a:cxnLst/>
            <a:rect l="l" t="t" r="r" b="b"/>
            <a:pathLst>
              <a:path w="5719187" h="2537889">
                <a:moveTo>
                  <a:pt x="0" y="2537890"/>
                </a:moveTo>
                <a:lnTo>
                  <a:pt x="5719187" y="2537890"/>
                </a:lnTo>
                <a:lnTo>
                  <a:pt x="5719187" y="0"/>
                </a:lnTo>
                <a:lnTo>
                  <a:pt x="0" y="0"/>
                </a:lnTo>
                <a:lnTo>
                  <a:pt x="0" y="25378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869641">
            <a:off x="13448147" y="4288687"/>
            <a:ext cx="5353562" cy="6551953"/>
          </a:xfrm>
          <a:custGeom>
            <a:avLst/>
            <a:gdLst/>
            <a:ahLst/>
            <a:cxnLst/>
            <a:rect l="l" t="t" r="r" b="b"/>
            <a:pathLst>
              <a:path w="5353562" h="6551953">
                <a:moveTo>
                  <a:pt x="0" y="0"/>
                </a:moveTo>
                <a:lnTo>
                  <a:pt x="5353562" y="0"/>
                </a:lnTo>
                <a:lnTo>
                  <a:pt x="5353562" y="6551953"/>
                </a:lnTo>
                <a:lnTo>
                  <a:pt x="0" y="6551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2601946">
            <a:off x="-3079270" y="-1836117"/>
            <a:ext cx="7733822" cy="7811942"/>
          </a:xfrm>
          <a:custGeom>
            <a:avLst/>
            <a:gdLst/>
            <a:ahLst/>
            <a:cxnLst/>
            <a:rect l="l" t="t" r="r" b="b"/>
            <a:pathLst>
              <a:path w="7733822" h="7811942">
                <a:moveTo>
                  <a:pt x="0" y="0"/>
                </a:moveTo>
                <a:lnTo>
                  <a:pt x="7733822" y="0"/>
                </a:lnTo>
                <a:lnTo>
                  <a:pt x="7733822" y="7811942"/>
                </a:lnTo>
                <a:lnTo>
                  <a:pt x="0" y="7811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4774768" y="7076551"/>
            <a:ext cx="8738463" cy="4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 u="sng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  <a:hlinkClick r:id="rId5" tooltip="https://github.com/nicolenavarrorojas/CultureGo"/>
              </a:rPr>
              <a:t>Enlace de GitHub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74768" y="7517039"/>
            <a:ext cx="8738463" cy="4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 u="sng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  <a:hlinkClick r:id="rId6" tooltip="https://drive.google.com/drive/folders/1prFhiU-zuJ8utc8j_USGXN2LaOIBCvQD?usp=drive_link"/>
              </a:rPr>
              <a:t>Enlace de Google 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795</Words>
  <Application>Microsoft Office PowerPoint</Application>
  <PresentationFormat>Personalizado</PresentationFormat>
  <Paragraphs>111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Canva Sans</vt:lpstr>
      <vt:lpstr>Bree Serif</vt:lpstr>
      <vt:lpstr>League Spartan</vt:lpstr>
      <vt:lpstr>Calibri</vt:lpstr>
      <vt:lpstr>Luducudu</vt:lpstr>
      <vt:lpstr>Canva Sans Bold</vt:lpstr>
      <vt:lpstr>Canva Sans Italics</vt:lpstr>
      <vt:lpstr>Arial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CultureGo</dc:title>
  <cp:lastModifiedBy>DIANA ISABEL AVILA PORTILLO</cp:lastModifiedBy>
  <cp:revision>2</cp:revision>
  <dcterms:created xsi:type="dcterms:W3CDTF">2006-08-16T00:00:00Z</dcterms:created>
  <dcterms:modified xsi:type="dcterms:W3CDTF">2026-10-25T03:04:14Z</dcterms:modified>
  <dc:identifier>DAHSlG6IoOQ</dc:identifier>
</cp:coreProperties>
</file>