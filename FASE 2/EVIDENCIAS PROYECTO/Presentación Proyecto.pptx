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League Spartan" charset="1" panose="00000800000000000000"/>
      <p:regular r:id="rId23"/>
    </p:embeddedFont>
    <p:embeddedFont>
      <p:font typeface="Luducudu" charset="1" panose="00000000000000000000"/>
      <p:regular r:id="rId24"/>
    </p:embeddedFont>
    <p:embeddedFont>
      <p:font typeface="Canva Sans Bold" charset="1" panose="020B0803030501040103"/>
      <p:regular r:id="rId25"/>
    </p:embeddedFont>
    <p:embeddedFont>
      <p:font typeface="Canva Sans" charset="1" panose="020B0503030501040103"/>
      <p:regular r:id="rId26"/>
    </p:embeddedFont>
    <p:embeddedFont>
      <p:font typeface="Bree Serif" charset="1" panose="02000503040000020004"/>
      <p:regular r:id="rId27"/>
    </p:embeddedFont>
    <p:embeddedFont>
      <p:font typeface="Canva Sans Italics" charset="1" panose="020B0503030501040103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4.jpe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6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1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20.png" Type="http://schemas.openxmlformats.org/officeDocument/2006/relationships/image"/><Relationship Id="rId5" Target="../media/image21.svg" Type="http://schemas.openxmlformats.org/officeDocument/2006/relationships/image"/><Relationship Id="rId6" Target="../media/image2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2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24.png" Type="http://schemas.openxmlformats.org/officeDocument/2006/relationships/image"/><Relationship Id="rId5" Target="../media/image25.svg" Type="http://schemas.openxmlformats.org/officeDocument/2006/relationships/image"/><Relationship Id="rId6" Target="../media/image26.png" Type="http://schemas.openxmlformats.org/officeDocument/2006/relationships/image"/><Relationship Id="rId7" Target="../media/image27.svg" Type="http://schemas.openxmlformats.org/officeDocument/2006/relationships/image"/><Relationship Id="rId8" Target="../media/image28.png" Type="http://schemas.openxmlformats.org/officeDocument/2006/relationships/image"/><Relationship Id="rId9" Target="../media/image29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30.png" Type="http://schemas.openxmlformats.org/officeDocument/2006/relationships/image"/><Relationship Id="rId5" Target="../embeddings/oleObject1.bin" Type="http://schemas.openxmlformats.org/officeDocument/2006/relationships/oleObjec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7.png" Type="http://schemas.openxmlformats.org/officeDocument/2006/relationships/image"/><Relationship Id="rId11" Target="../media/image38.png" Type="http://schemas.openxmlformats.org/officeDocument/2006/relationships/image"/><Relationship Id="rId12" Target="../media/image39.png" Type="http://schemas.openxmlformats.org/officeDocument/2006/relationships/image"/><Relationship Id="rId13" Target="../media/image40.png" Type="http://schemas.openxmlformats.org/officeDocument/2006/relationships/image"/><Relationship Id="rId14" Target="../media/image41.png" Type="http://schemas.openxmlformats.org/officeDocument/2006/relationships/image"/><Relationship Id="rId15" Target="../media/image42.png" Type="http://schemas.openxmlformats.org/officeDocument/2006/relationships/image"/><Relationship Id="rId16" Target="../media/image43.png" Type="http://schemas.openxmlformats.org/officeDocument/2006/relationships/image"/><Relationship Id="rId17" Target="../media/image44.png" Type="http://schemas.openxmlformats.org/officeDocument/2006/relationships/image"/><Relationship Id="rId18" Target="../media/image45.png" Type="http://schemas.openxmlformats.org/officeDocument/2006/relationships/image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33.png" Type="http://schemas.openxmlformats.org/officeDocument/2006/relationships/image"/><Relationship Id="rId7" Target="../media/image34.png" Type="http://schemas.openxmlformats.org/officeDocument/2006/relationships/image"/><Relationship Id="rId8" Target="../media/image35.png" Type="http://schemas.openxmlformats.org/officeDocument/2006/relationships/image"/><Relationship Id="rId9" Target="../media/image36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46.png" Type="http://schemas.openxmlformats.org/officeDocument/2006/relationships/image"/><Relationship Id="rId5" Target="../media/image47.png" Type="http://schemas.openxmlformats.org/officeDocument/2006/relationships/image"/><Relationship Id="rId6" Target="../media/image48.png" Type="http://schemas.openxmlformats.org/officeDocument/2006/relationships/image"/><Relationship Id="rId7" Target="../media/image49.png" Type="http://schemas.openxmlformats.org/officeDocument/2006/relationships/image"/><Relationship Id="rId8" Target="../media/image5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5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52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53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54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55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56.png" Type="http://schemas.openxmlformats.org/officeDocument/2006/relationships/image"/><Relationship Id="rId5" Target="../media/image57.svg" Type="http://schemas.openxmlformats.org/officeDocument/2006/relationships/image"/><Relationship Id="rId6" Target="../media/image58.png" Type="http://schemas.openxmlformats.org/officeDocument/2006/relationships/image"/><Relationship Id="rId7" Target="../media/image59.svg" Type="http://schemas.openxmlformats.org/officeDocument/2006/relationships/image"/><Relationship Id="rId8" Target="https://github.com/nicolenavarrorojas/CultureGo" TargetMode="External" Type="http://schemas.openxmlformats.org/officeDocument/2006/relationships/hyperlink"/><Relationship Id="rId9" Target="https://drive.google.com/drive/folders/1prFhiU-zuJ8utc8j_USGXN2LaOIBCvQD?usp=drive_link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D3C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482085" y="-558745"/>
            <a:ext cx="11133634" cy="11404491"/>
          </a:xfrm>
          <a:custGeom>
            <a:avLst/>
            <a:gdLst/>
            <a:ahLst/>
            <a:cxnLst/>
            <a:rect r="r" b="b" t="t" l="l"/>
            <a:pathLst>
              <a:path h="11404491" w="11133634">
                <a:moveTo>
                  <a:pt x="0" y="0"/>
                </a:moveTo>
                <a:lnTo>
                  <a:pt x="11133634" y="0"/>
                </a:lnTo>
                <a:lnTo>
                  <a:pt x="11133634" y="11404490"/>
                </a:lnTo>
                <a:lnTo>
                  <a:pt x="0" y="114044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2568813" y="-24024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275905" y="-1066396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8" y="2537890"/>
                </a:lnTo>
                <a:lnTo>
                  <a:pt x="5719188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574757" y="5314309"/>
            <a:ext cx="5960089" cy="2132364"/>
            <a:chOff x="0" y="0"/>
            <a:chExt cx="1569735" cy="56161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69735" cy="561610"/>
            </a:xfrm>
            <a:custGeom>
              <a:avLst/>
              <a:gdLst/>
              <a:ahLst/>
              <a:cxnLst/>
              <a:rect r="r" b="b" t="t" l="l"/>
              <a:pathLst>
                <a:path h="561610" w="1569735">
                  <a:moveTo>
                    <a:pt x="84432" y="0"/>
                  </a:moveTo>
                  <a:lnTo>
                    <a:pt x="1485303" y="0"/>
                  </a:lnTo>
                  <a:cubicBezTo>
                    <a:pt x="1531934" y="0"/>
                    <a:pt x="1569735" y="37802"/>
                    <a:pt x="1569735" y="84432"/>
                  </a:cubicBezTo>
                  <a:lnTo>
                    <a:pt x="1569735" y="477178"/>
                  </a:lnTo>
                  <a:cubicBezTo>
                    <a:pt x="1569735" y="523809"/>
                    <a:pt x="1531934" y="561610"/>
                    <a:pt x="1485303" y="561610"/>
                  </a:cubicBezTo>
                  <a:lnTo>
                    <a:pt x="84432" y="561610"/>
                  </a:lnTo>
                  <a:cubicBezTo>
                    <a:pt x="37802" y="561610"/>
                    <a:pt x="0" y="523809"/>
                    <a:pt x="0" y="477178"/>
                  </a:cubicBezTo>
                  <a:lnTo>
                    <a:pt x="0" y="84432"/>
                  </a:lnTo>
                  <a:cubicBezTo>
                    <a:pt x="0" y="37802"/>
                    <a:pt x="37802" y="0"/>
                    <a:pt x="84432" y="0"/>
                  </a:cubicBezTo>
                  <a:close/>
                </a:path>
              </a:pathLst>
            </a:custGeom>
            <a:solidFill>
              <a:srgbClr val="7E6597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569735" cy="5997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true" rot="-488021">
            <a:off x="-162345" y="1386727"/>
            <a:ext cx="5219377" cy="2226934"/>
          </a:xfrm>
          <a:custGeom>
            <a:avLst/>
            <a:gdLst/>
            <a:ahLst/>
            <a:cxnLst/>
            <a:rect r="r" b="b" t="t" l="l"/>
            <a:pathLst>
              <a:path h="2226934" w="5219377">
                <a:moveTo>
                  <a:pt x="0" y="2226934"/>
                </a:moveTo>
                <a:lnTo>
                  <a:pt x="5219377" y="2226934"/>
                </a:lnTo>
                <a:lnTo>
                  <a:pt x="5219377" y="0"/>
                </a:lnTo>
                <a:lnTo>
                  <a:pt x="0" y="0"/>
                </a:lnTo>
                <a:lnTo>
                  <a:pt x="0" y="2226934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true" rot="0">
            <a:off x="-530870" y="8253967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89"/>
                </a:moveTo>
                <a:lnTo>
                  <a:pt x="5719187" y="2537889"/>
                </a:lnTo>
                <a:lnTo>
                  <a:pt x="5719187" y="0"/>
                </a:lnTo>
                <a:lnTo>
                  <a:pt x="0" y="0"/>
                </a:lnTo>
                <a:lnTo>
                  <a:pt x="0" y="2537889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true" rot="0">
            <a:off x="-804583" y="901805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390555" y="3228737"/>
            <a:ext cx="10193607" cy="19903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984"/>
              </a:lnSpc>
            </a:pPr>
            <a:r>
              <a:rPr lang="en-US" sz="14984" spc="-599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CultureGo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8831362" y="1542368"/>
            <a:ext cx="9323319" cy="7202264"/>
          </a:xfrm>
          <a:custGeom>
            <a:avLst/>
            <a:gdLst/>
            <a:ahLst/>
            <a:cxnLst/>
            <a:rect r="r" b="b" t="t" l="l"/>
            <a:pathLst>
              <a:path h="7202264" w="9323319">
                <a:moveTo>
                  <a:pt x="0" y="0"/>
                </a:moveTo>
                <a:lnTo>
                  <a:pt x="9323319" y="0"/>
                </a:lnTo>
                <a:lnTo>
                  <a:pt x="9323319" y="7202264"/>
                </a:lnTo>
                <a:lnTo>
                  <a:pt x="0" y="720226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90555" y="268134"/>
            <a:ext cx="3096110" cy="760566"/>
          </a:xfrm>
          <a:custGeom>
            <a:avLst/>
            <a:gdLst/>
            <a:ahLst/>
            <a:cxnLst/>
            <a:rect r="r" b="b" t="t" l="l"/>
            <a:pathLst>
              <a:path h="760566" w="3096110">
                <a:moveTo>
                  <a:pt x="0" y="0"/>
                </a:moveTo>
                <a:lnTo>
                  <a:pt x="3096110" y="0"/>
                </a:lnTo>
                <a:lnTo>
                  <a:pt x="3096110" y="760566"/>
                </a:lnTo>
                <a:lnTo>
                  <a:pt x="0" y="7605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14" id="14"/>
          <p:cNvSpPr txBox="true"/>
          <p:nvPr/>
        </p:nvSpPr>
        <p:spPr>
          <a:xfrm rot="0">
            <a:off x="886964" y="5629603"/>
            <a:ext cx="5647882" cy="1539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9"/>
              </a:lnSpc>
            </a:pPr>
            <a:r>
              <a:rPr lang="en-US" sz="3999" spc="251">
                <a:solidFill>
                  <a:srgbClr val="FFFFFF"/>
                </a:solidFill>
                <a:latin typeface="Luducudu"/>
                <a:ea typeface="Luducudu"/>
                <a:cs typeface="Luducudu"/>
                <a:sym typeface="Luducudu"/>
              </a:rPr>
              <a:t>Benjamin gonzález</a:t>
            </a:r>
          </a:p>
          <a:p>
            <a:pPr algn="l">
              <a:lnSpc>
                <a:spcPts val="3999"/>
              </a:lnSpc>
            </a:pPr>
            <a:r>
              <a:rPr lang="en-US" sz="3999" spc="251">
                <a:solidFill>
                  <a:srgbClr val="FFFFFF"/>
                </a:solidFill>
                <a:latin typeface="Luducudu"/>
                <a:ea typeface="Luducudu"/>
                <a:cs typeface="Luducudu"/>
                <a:sym typeface="Luducudu"/>
              </a:rPr>
              <a:t>nicole navarro</a:t>
            </a:r>
          </a:p>
          <a:p>
            <a:pPr algn="l">
              <a:lnSpc>
                <a:spcPts val="3999"/>
              </a:lnSpc>
            </a:pPr>
            <a:r>
              <a:rPr lang="en-US" sz="3999" spc="251">
                <a:solidFill>
                  <a:srgbClr val="FFFFFF"/>
                </a:solidFill>
                <a:latin typeface="Luducudu"/>
                <a:ea typeface="Luducudu"/>
                <a:cs typeface="Luducudu"/>
                <a:sym typeface="Luducudu"/>
              </a:rPr>
              <a:t>Diana ávila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144586" y="9201150"/>
            <a:ext cx="7010094" cy="9766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Asignatura</a:t>
            </a:r>
            <a:r>
              <a:rPr lang="en-US" sz="2799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: Capstone 003D</a:t>
            </a:r>
          </a:p>
          <a:p>
            <a:pPr algn="r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 strike="noStrike" u="non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Docente</a:t>
            </a:r>
            <a:r>
              <a:rPr lang="en-US" sz="2799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: Cindy Contador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2568813" y="-24024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3275905" y="-1066396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8" y="2537890"/>
                </a:lnTo>
                <a:lnTo>
                  <a:pt x="5719188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804583" y="901805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560075" y="2428464"/>
            <a:ext cx="4748907" cy="7616519"/>
            <a:chOff x="0" y="0"/>
            <a:chExt cx="1348635" cy="216300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48635" cy="2163003"/>
            </a:xfrm>
            <a:custGeom>
              <a:avLst/>
              <a:gdLst/>
              <a:ahLst/>
              <a:cxnLst/>
              <a:rect r="r" b="b" t="t" l="l"/>
              <a:pathLst>
                <a:path h="2163003" w="1348635">
                  <a:moveTo>
                    <a:pt x="37496" y="0"/>
                  </a:moveTo>
                  <a:lnTo>
                    <a:pt x="1311139" y="0"/>
                  </a:lnTo>
                  <a:cubicBezTo>
                    <a:pt x="1321083" y="0"/>
                    <a:pt x="1330621" y="3950"/>
                    <a:pt x="1337652" y="10982"/>
                  </a:cubicBezTo>
                  <a:cubicBezTo>
                    <a:pt x="1344684" y="18014"/>
                    <a:pt x="1348635" y="27551"/>
                    <a:pt x="1348635" y="37496"/>
                  </a:cubicBezTo>
                  <a:lnTo>
                    <a:pt x="1348635" y="2125508"/>
                  </a:lnTo>
                  <a:cubicBezTo>
                    <a:pt x="1348635" y="2135452"/>
                    <a:pt x="1344684" y="2144989"/>
                    <a:pt x="1337652" y="2152021"/>
                  </a:cubicBezTo>
                  <a:cubicBezTo>
                    <a:pt x="1330621" y="2159053"/>
                    <a:pt x="1321083" y="2163003"/>
                    <a:pt x="1311139" y="2163003"/>
                  </a:cubicBezTo>
                  <a:lnTo>
                    <a:pt x="37496" y="2163003"/>
                  </a:lnTo>
                  <a:cubicBezTo>
                    <a:pt x="27551" y="2163003"/>
                    <a:pt x="18014" y="2159053"/>
                    <a:pt x="10982" y="2152021"/>
                  </a:cubicBezTo>
                  <a:cubicBezTo>
                    <a:pt x="3950" y="2144989"/>
                    <a:pt x="0" y="2135452"/>
                    <a:pt x="0" y="2125508"/>
                  </a:cubicBezTo>
                  <a:lnTo>
                    <a:pt x="0" y="37496"/>
                  </a:lnTo>
                  <a:cubicBezTo>
                    <a:pt x="0" y="27551"/>
                    <a:pt x="3950" y="18014"/>
                    <a:pt x="10982" y="10982"/>
                  </a:cubicBezTo>
                  <a:cubicBezTo>
                    <a:pt x="18014" y="3950"/>
                    <a:pt x="27551" y="0"/>
                    <a:pt x="37496" y="0"/>
                  </a:cubicBezTo>
                  <a:close/>
                </a:path>
              </a:pathLst>
            </a:custGeom>
            <a:ln w="57150" cap="rnd">
              <a:solidFill>
                <a:srgbClr val="7E6597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348635" cy="22011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774776" y="2428464"/>
            <a:ext cx="4748907" cy="7616519"/>
            <a:chOff x="0" y="0"/>
            <a:chExt cx="1348635" cy="216300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48635" cy="2163003"/>
            </a:xfrm>
            <a:custGeom>
              <a:avLst/>
              <a:gdLst/>
              <a:ahLst/>
              <a:cxnLst/>
              <a:rect r="r" b="b" t="t" l="l"/>
              <a:pathLst>
                <a:path h="2163003" w="1348635">
                  <a:moveTo>
                    <a:pt x="37496" y="0"/>
                  </a:moveTo>
                  <a:lnTo>
                    <a:pt x="1311139" y="0"/>
                  </a:lnTo>
                  <a:cubicBezTo>
                    <a:pt x="1321083" y="0"/>
                    <a:pt x="1330621" y="3950"/>
                    <a:pt x="1337652" y="10982"/>
                  </a:cubicBezTo>
                  <a:cubicBezTo>
                    <a:pt x="1344684" y="18014"/>
                    <a:pt x="1348635" y="27551"/>
                    <a:pt x="1348635" y="37496"/>
                  </a:cubicBezTo>
                  <a:lnTo>
                    <a:pt x="1348635" y="2125508"/>
                  </a:lnTo>
                  <a:cubicBezTo>
                    <a:pt x="1348635" y="2135452"/>
                    <a:pt x="1344684" y="2144989"/>
                    <a:pt x="1337652" y="2152021"/>
                  </a:cubicBezTo>
                  <a:cubicBezTo>
                    <a:pt x="1330621" y="2159053"/>
                    <a:pt x="1321083" y="2163003"/>
                    <a:pt x="1311139" y="2163003"/>
                  </a:cubicBezTo>
                  <a:lnTo>
                    <a:pt x="37496" y="2163003"/>
                  </a:lnTo>
                  <a:cubicBezTo>
                    <a:pt x="27551" y="2163003"/>
                    <a:pt x="18014" y="2159053"/>
                    <a:pt x="10982" y="2152021"/>
                  </a:cubicBezTo>
                  <a:cubicBezTo>
                    <a:pt x="3950" y="2144989"/>
                    <a:pt x="0" y="2135452"/>
                    <a:pt x="0" y="2125508"/>
                  </a:cubicBezTo>
                  <a:lnTo>
                    <a:pt x="0" y="37496"/>
                  </a:lnTo>
                  <a:cubicBezTo>
                    <a:pt x="0" y="27551"/>
                    <a:pt x="3950" y="18014"/>
                    <a:pt x="10982" y="10982"/>
                  </a:cubicBezTo>
                  <a:cubicBezTo>
                    <a:pt x="18014" y="3950"/>
                    <a:pt x="27551" y="0"/>
                    <a:pt x="37496" y="0"/>
                  </a:cubicBezTo>
                  <a:close/>
                </a:path>
              </a:pathLst>
            </a:custGeom>
            <a:ln w="57150" cap="rnd">
              <a:solidFill>
                <a:srgbClr val="7E6597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348635" cy="22011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983766" y="2428464"/>
            <a:ext cx="4748907" cy="7616519"/>
            <a:chOff x="0" y="0"/>
            <a:chExt cx="1348635" cy="216300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48635" cy="2163003"/>
            </a:xfrm>
            <a:custGeom>
              <a:avLst/>
              <a:gdLst/>
              <a:ahLst/>
              <a:cxnLst/>
              <a:rect r="r" b="b" t="t" l="l"/>
              <a:pathLst>
                <a:path h="2163003" w="1348635">
                  <a:moveTo>
                    <a:pt x="37496" y="0"/>
                  </a:moveTo>
                  <a:lnTo>
                    <a:pt x="1311139" y="0"/>
                  </a:lnTo>
                  <a:cubicBezTo>
                    <a:pt x="1321083" y="0"/>
                    <a:pt x="1330621" y="3950"/>
                    <a:pt x="1337652" y="10982"/>
                  </a:cubicBezTo>
                  <a:cubicBezTo>
                    <a:pt x="1344684" y="18014"/>
                    <a:pt x="1348635" y="27551"/>
                    <a:pt x="1348635" y="37496"/>
                  </a:cubicBezTo>
                  <a:lnTo>
                    <a:pt x="1348635" y="2125508"/>
                  </a:lnTo>
                  <a:cubicBezTo>
                    <a:pt x="1348635" y="2135452"/>
                    <a:pt x="1344684" y="2144989"/>
                    <a:pt x="1337652" y="2152021"/>
                  </a:cubicBezTo>
                  <a:cubicBezTo>
                    <a:pt x="1330621" y="2159053"/>
                    <a:pt x="1321083" y="2163003"/>
                    <a:pt x="1311139" y="2163003"/>
                  </a:cubicBezTo>
                  <a:lnTo>
                    <a:pt x="37496" y="2163003"/>
                  </a:lnTo>
                  <a:cubicBezTo>
                    <a:pt x="27551" y="2163003"/>
                    <a:pt x="18014" y="2159053"/>
                    <a:pt x="10982" y="2152021"/>
                  </a:cubicBezTo>
                  <a:cubicBezTo>
                    <a:pt x="3950" y="2144989"/>
                    <a:pt x="0" y="2135452"/>
                    <a:pt x="0" y="2125508"/>
                  </a:cubicBezTo>
                  <a:lnTo>
                    <a:pt x="0" y="37496"/>
                  </a:lnTo>
                  <a:cubicBezTo>
                    <a:pt x="0" y="27551"/>
                    <a:pt x="3950" y="18014"/>
                    <a:pt x="10982" y="10982"/>
                  </a:cubicBezTo>
                  <a:cubicBezTo>
                    <a:pt x="18014" y="3950"/>
                    <a:pt x="27551" y="0"/>
                    <a:pt x="37496" y="0"/>
                  </a:cubicBezTo>
                  <a:close/>
                </a:path>
              </a:pathLst>
            </a:custGeom>
            <a:ln w="57150" cap="rnd">
              <a:solidFill>
                <a:srgbClr val="7E6597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348635" cy="22011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12926753" y="2620840"/>
            <a:ext cx="2862934" cy="2906532"/>
          </a:xfrm>
          <a:custGeom>
            <a:avLst/>
            <a:gdLst/>
            <a:ahLst/>
            <a:cxnLst/>
            <a:rect r="r" b="b" t="t" l="l"/>
            <a:pathLst>
              <a:path h="2906532" w="2862934">
                <a:moveTo>
                  <a:pt x="0" y="0"/>
                </a:moveTo>
                <a:lnTo>
                  <a:pt x="2862934" y="0"/>
                </a:lnTo>
                <a:lnTo>
                  <a:pt x="2862934" y="2906532"/>
                </a:lnTo>
                <a:lnTo>
                  <a:pt x="0" y="290653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7340210" y="2992607"/>
            <a:ext cx="3607580" cy="2534765"/>
          </a:xfrm>
          <a:custGeom>
            <a:avLst/>
            <a:gdLst/>
            <a:ahLst/>
            <a:cxnLst/>
            <a:rect r="r" b="b" t="t" l="l"/>
            <a:pathLst>
              <a:path h="2534765" w="3607580">
                <a:moveTo>
                  <a:pt x="0" y="0"/>
                </a:moveTo>
                <a:lnTo>
                  <a:pt x="3607580" y="0"/>
                </a:lnTo>
                <a:lnTo>
                  <a:pt x="3607580" y="2534765"/>
                </a:lnTo>
                <a:lnTo>
                  <a:pt x="0" y="253476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-6586" r="-53345" b="-17814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2432522" y="3053737"/>
            <a:ext cx="2942079" cy="2412505"/>
          </a:xfrm>
          <a:custGeom>
            <a:avLst/>
            <a:gdLst/>
            <a:ahLst/>
            <a:cxnLst/>
            <a:rect r="r" b="b" t="t" l="l"/>
            <a:pathLst>
              <a:path h="2412505" w="2942079">
                <a:moveTo>
                  <a:pt x="0" y="0"/>
                </a:moveTo>
                <a:lnTo>
                  <a:pt x="2942079" y="0"/>
                </a:lnTo>
                <a:lnTo>
                  <a:pt x="2942079" y="2412505"/>
                </a:lnTo>
                <a:lnTo>
                  <a:pt x="0" y="24125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2055011" y="5951914"/>
            <a:ext cx="3607580" cy="20729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6.004.567 </a:t>
            </a:r>
            <a:r>
              <a:rPr lang="en-US" sz="2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Turistas internacionales visitaron Chile en 2025, Santiago como uno de los principales destinos.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409963" y="5951914"/>
            <a:ext cx="3607580" cy="2910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Santiago destaca como uno de los mejores destinos urbanos de Sudamérica gracias a su combinación de modernidad, naturaleza y cultura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681430" y="1816314"/>
            <a:ext cx="3353580" cy="4813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919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¿Q</a:t>
            </a:r>
            <a:r>
              <a:rPr lang="en-US" b="true" sz="2799" strike="noStrike" u="non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ué ocurre?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595284" y="1341862"/>
            <a:ext cx="4943303" cy="707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1"/>
              </a:lnSpc>
            </a:pPr>
            <a:r>
              <a:rPr lang="en-US" sz="5475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contexto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116556" y="9229725"/>
            <a:ext cx="3574010" cy="611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Fuente: Subsecretaría de Turismo, 2026.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527919" y="5951914"/>
            <a:ext cx="3607580" cy="3749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</a:t>
            </a:r>
            <a:r>
              <a:rPr lang="en-US" sz="2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as plataformas actuales tienden a mostrar los atractivos </a:t>
            </a:r>
            <a:r>
              <a:rPr lang="en-US" b="true" sz="240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más populares</a:t>
            </a:r>
            <a:r>
              <a:rPr lang="en-US" sz="2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, dificultando que turistas y residentes descubran alternativas culturales menos conocidas.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356995" y="9300904"/>
            <a:ext cx="3574010" cy="611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Fuente: Subsecretaría de Turismo, 2026.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2568813" y="-24024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3275905" y="-1066396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8" y="2537890"/>
                </a:lnTo>
                <a:lnTo>
                  <a:pt x="5719188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-804583" y="901805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299873" y="5143500"/>
            <a:ext cx="5617221" cy="4269088"/>
          </a:xfrm>
          <a:custGeom>
            <a:avLst/>
            <a:gdLst/>
            <a:ahLst/>
            <a:cxnLst/>
            <a:rect r="r" b="b" t="t" l="l"/>
            <a:pathLst>
              <a:path h="4269088" w="5617221">
                <a:moveTo>
                  <a:pt x="0" y="0"/>
                </a:moveTo>
                <a:lnTo>
                  <a:pt x="5617221" y="0"/>
                </a:lnTo>
                <a:lnTo>
                  <a:pt x="5617221" y="4269088"/>
                </a:lnTo>
                <a:lnTo>
                  <a:pt x="0" y="42690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617704" y="3184856"/>
            <a:ext cx="15052592" cy="1471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Turistas y residentes</a:t>
            </a:r>
            <a:r>
              <a:rPr lang="en-US" b="true" sz="27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 Santiago tienen</a:t>
            </a:r>
            <a:r>
              <a:rPr lang="en-US" b="true" sz="27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dificultad para encontrar atractivos culturales distintos a los lugares habituales</a:t>
            </a: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que aparecen en las plataformas actuales, cuya información es genérica y repetitiva.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17704" y="2354061"/>
            <a:ext cx="4943303" cy="707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1"/>
              </a:lnSpc>
            </a:pPr>
            <a:r>
              <a:rPr lang="en-US" sz="5475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problema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17704" y="5133781"/>
            <a:ext cx="6271797" cy="707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01"/>
              </a:lnSpc>
            </a:pPr>
            <a:r>
              <a:rPr lang="en-US" sz="5475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usuarios afectados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17704" y="6067665"/>
            <a:ext cx="7279485" cy="1471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</a:t>
            </a: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uristas que visitan Santiago, res</a:t>
            </a: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ident</a:t>
            </a: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</a:t>
            </a: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 y p</a:t>
            </a: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equeños espacios culturales con baja visibilidad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179516" y="1133475"/>
            <a:ext cx="7928967" cy="742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600"/>
              </a:lnSpc>
              <a:spcBef>
                <a:spcPct val="0"/>
              </a:spcBef>
            </a:pPr>
            <a:r>
              <a:rPr lang="en-US" b="true" sz="5600" spc="-224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¿Qué problema existe?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D3C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2568813" y="-24024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3275905" y="-1066396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8" y="2537890"/>
                </a:lnTo>
                <a:lnTo>
                  <a:pt x="5719188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-2159340" y="8482149"/>
            <a:ext cx="5992900" cy="3301978"/>
            <a:chOff x="0" y="0"/>
            <a:chExt cx="7990534" cy="4402637"/>
          </a:xfrm>
        </p:grpSpPr>
        <p:sp>
          <p:nvSpPr>
            <p:cNvPr name="Freeform 5" id="5"/>
            <p:cNvSpPr/>
            <p:nvPr/>
          </p:nvSpPr>
          <p:spPr>
            <a:xfrm flipH="false" flipV="true" rot="0">
              <a:off x="364951" y="0"/>
              <a:ext cx="7625583" cy="3383852"/>
            </a:xfrm>
            <a:custGeom>
              <a:avLst/>
              <a:gdLst/>
              <a:ahLst/>
              <a:cxnLst/>
              <a:rect r="r" b="b" t="t" l="l"/>
              <a:pathLst>
                <a:path h="3383852" w="7625583">
                  <a:moveTo>
                    <a:pt x="0" y="3383852"/>
                  </a:moveTo>
                  <a:lnTo>
                    <a:pt x="7625583" y="3383852"/>
                  </a:lnTo>
                  <a:lnTo>
                    <a:pt x="7625583" y="0"/>
                  </a:lnTo>
                  <a:lnTo>
                    <a:pt x="0" y="0"/>
                  </a:lnTo>
                  <a:lnTo>
                    <a:pt x="0" y="3383852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true" rot="0">
              <a:off x="0" y="1018784"/>
              <a:ext cx="7625583" cy="3383852"/>
            </a:xfrm>
            <a:custGeom>
              <a:avLst/>
              <a:gdLst/>
              <a:ahLst/>
              <a:cxnLst/>
              <a:rect r="r" b="b" t="t" l="l"/>
              <a:pathLst>
                <a:path h="3383852" w="7625583">
                  <a:moveTo>
                    <a:pt x="0" y="3383853"/>
                  </a:moveTo>
                  <a:lnTo>
                    <a:pt x="7625583" y="3383853"/>
                  </a:lnTo>
                  <a:lnTo>
                    <a:pt x="7625583" y="0"/>
                  </a:lnTo>
                  <a:lnTo>
                    <a:pt x="0" y="0"/>
                  </a:lnTo>
                  <a:lnTo>
                    <a:pt x="0" y="3383853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028700" y="5608405"/>
            <a:ext cx="9307143" cy="905344"/>
            <a:chOff x="0" y="0"/>
            <a:chExt cx="12409525" cy="1207125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12409525" cy="1207125"/>
              <a:chOff x="0" y="0"/>
              <a:chExt cx="5232970" cy="509032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5232970" cy="509032"/>
              </a:xfrm>
              <a:custGeom>
                <a:avLst/>
                <a:gdLst/>
                <a:ahLst/>
                <a:cxnLst/>
                <a:rect r="r" b="b" t="t" l="l"/>
                <a:pathLst>
                  <a:path h="509032" w="5232970">
                    <a:moveTo>
                      <a:pt x="13524" y="0"/>
                    </a:moveTo>
                    <a:lnTo>
                      <a:pt x="5219446" y="0"/>
                    </a:lnTo>
                    <a:cubicBezTo>
                      <a:pt x="5223032" y="0"/>
                      <a:pt x="5226472" y="1425"/>
                      <a:pt x="5229009" y="3961"/>
                    </a:cubicBezTo>
                    <a:cubicBezTo>
                      <a:pt x="5231545" y="6497"/>
                      <a:pt x="5232970" y="9937"/>
                      <a:pt x="5232970" y="13524"/>
                    </a:cubicBezTo>
                    <a:lnTo>
                      <a:pt x="5232970" y="495508"/>
                    </a:lnTo>
                    <a:cubicBezTo>
                      <a:pt x="5232970" y="499095"/>
                      <a:pt x="5231545" y="502535"/>
                      <a:pt x="5229009" y="505071"/>
                    </a:cubicBezTo>
                    <a:cubicBezTo>
                      <a:pt x="5226472" y="507607"/>
                      <a:pt x="5223032" y="509032"/>
                      <a:pt x="5219446" y="509032"/>
                    </a:cubicBezTo>
                    <a:lnTo>
                      <a:pt x="13524" y="509032"/>
                    </a:lnTo>
                    <a:cubicBezTo>
                      <a:pt x="9937" y="509032"/>
                      <a:pt x="6497" y="507607"/>
                      <a:pt x="3961" y="505071"/>
                    </a:cubicBezTo>
                    <a:cubicBezTo>
                      <a:pt x="1425" y="502535"/>
                      <a:pt x="0" y="499095"/>
                      <a:pt x="0" y="495508"/>
                    </a:cubicBezTo>
                    <a:lnTo>
                      <a:pt x="0" y="13524"/>
                    </a:lnTo>
                    <a:cubicBezTo>
                      <a:pt x="0" y="9937"/>
                      <a:pt x="1425" y="6497"/>
                      <a:pt x="3961" y="3961"/>
                    </a:cubicBezTo>
                    <a:cubicBezTo>
                      <a:pt x="6497" y="1425"/>
                      <a:pt x="9937" y="0"/>
                      <a:pt x="13524" y="0"/>
                    </a:cubicBezTo>
                    <a:close/>
                  </a:path>
                </a:pathLst>
              </a:custGeom>
              <a:ln cap="rnd">
                <a:noFill/>
                <a:prstDash val="solid"/>
                <a:round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19050"/>
                <a:ext cx="5232970" cy="52808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260"/>
                  </a:lnSpc>
                </a:pPr>
              </a:p>
            </p:txBody>
          </p:sp>
        </p:grpSp>
        <p:sp>
          <p:nvSpPr>
            <p:cNvPr name="TextBox 11" id="11"/>
            <p:cNvSpPr txBox="true"/>
            <p:nvPr/>
          </p:nvSpPr>
          <p:spPr>
            <a:xfrm rot="0">
              <a:off x="37567" y="165829"/>
              <a:ext cx="12334390" cy="449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400"/>
                </a:lnSpc>
                <a:spcBef>
                  <a:spcPct val="0"/>
                </a:spcBef>
              </a:pPr>
              <a:r>
                <a:rPr lang="en-US" b="true" sz="2400" spc="-96" strike="noStrike" u="none">
                  <a:solidFill>
                    <a:srgbClr val="000000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Catálogo de atractivos (filtrable por tipo, comuna y gratuidad)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028700" y="6185551"/>
            <a:ext cx="9249163" cy="615822"/>
            <a:chOff x="0" y="0"/>
            <a:chExt cx="12332217" cy="821096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12332217" cy="821096"/>
              <a:chOff x="0" y="0"/>
              <a:chExt cx="5200370" cy="346248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5200370" cy="346248"/>
              </a:xfrm>
              <a:custGeom>
                <a:avLst/>
                <a:gdLst/>
                <a:ahLst/>
                <a:cxnLst/>
                <a:rect r="r" b="b" t="t" l="l"/>
                <a:pathLst>
                  <a:path h="346248" w="5200370">
                    <a:moveTo>
                      <a:pt x="13609" y="0"/>
                    </a:moveTo>
                    <a:lnTo>
                      <a:pt x="5186761" y="0"/>
                    </a:lnTo>
                    <a:cubicBezTo>
                      <a:pt x="5190370" y="0"/>
                      <a:pt x="5193832" y="1434"/>
                      <a:pt x="5196384" y="3986"/>
                    </a:cubicBezTo>
                    <a:cubicBezTo>
                      <a:pt x="5198936" y="6538"/>
                      <a:pt x="5200370" y="10000"/>
                      <a:pt x="5200370" y="13609"/>
                    </a:cubicBezTo>
                    <a:lnTo>
                      <a:pt x="5200370" y="332639"/>
                    </a:lnTo>
                    <a:cubicBezTo>
                      <a:pt x="5200370" y="340155"/>
                      <a:pt x="5194277" y="346248"/>
                      <a:pt x="5186761" y="346248"/>
                    </a:cubicBezTo>
                    <a:lnTo>
                      <a:pt x="13609" y="346248"/>
                    </a:lnTo>
                    <a:cubicBezTo>
                      <a:pt x="10000" y="346248"/>
                      <a:pt x="6538" y="344814"/>
                      <a:pt x="3986" y="342262"/>
                    </a:cubicBezTo>
                    <a:cubicBezTo>
                      <a:pt x="1434" y="339710"/>
                      <a:pt x="0" y="336248"/>
                      <a:pt x="0" y="332639"/>
                    </a:cubicBezTo>
                    <a:lnTo>
                      <a:pt x="0" y="13609"/>
                    </a:lnTo>
                    <a:cubicBezTo>
                      <a:pt x="0" y="10000"/>
                      <a:pt x="1434" y="6538"/>
                      <a:pt x="3986" y="3986"/>
                    </a:cubicBezTo>
                    <a:cubicBezTo>
                      <a:pt x="6538" y="1434"/>
                      <a:pt x="10000" y="0"/>
                      <a:pt x="13609" y="0"/>
                    </a:cubicBezTo>
                    <a:close/>
                  </a:path>
                </a:pathLst>
              </a:custGeom>
              <a:ln cap="rnd">
                <a:noFill/>
                <a:prstDash val="solid"/>
                <a:round/>
              </a:ln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19050"/>
                <a:ext cx="5200370" cy="36529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 marL="0" indent="0" lvl="0">
                  <a:lnSpc>
                    <a:spcPts val="1260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TextBox 16" id="16"/>
            <p:cNvSpPr txBox="true"/>
            <p:nvPr/>
          </p:nvSpPr>
          <p:spPr>
            <a:xfrm rot="0">
              <a:off x="37333" y="165829"/>
              <a:ext cx="12257550" cy="449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400"/>
                </a:lnSpc>
                <a:spcBef>
                  <a:spcPct val="0"/>
                </a:spcBef>
              </a:pPr>
              <a:r>
                <a:rPr lang="en-US" b="true" sz="2400" spc="-96" strike="noStrike" u="none">
                  <a:solidFill>
                    <a:srgbClr val="000000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Mapa interactivo con geolocalización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28700" y="6762697"/>
            <a:ext cx="9249163" cy="615822"/>
            <a:chOff x="0" y="0"/>
            <a:chExt cx="12332217" cy="821096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12332217" cy="821096"/>
              <a:chOff x="0" y="0"/>
              <a:chExt cx="5200370" cy="346248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5200370" cy="346248"/>
              </a:xfrm>
              <a:custGeom>
                <a:avLst/>
                <a:gdLst/>
                <a:ahLst/>
                <a:cxnLst/>
                <a:rect r="r" b="b" t="t" l="l"/>
                <a:pathLst>
                  <a:path h="346248" w="5200370">
                    <a:moveTo>
                      <a:pt x="13609" y="0"/>
                    </a:moveTo>
                    <a:lnTo>
                      <a:pt x="5186761" y="0"/>
                    </a:lnTo>
                    <a:cubicBezTo>
                      <a:pt x="5190370" y="0"/>
                      <a:pt x="5193832" y="1434"/>
                      <a:pt x="5196384" y="3986"/>
                    </a:cubicBezTo>
                    <a:cubicBezTo>
                      <a:pt x="5198936" y="6538"/>
                      <a:pt x="5200370" y="10000"/>
                      <a:pt x="5200370" y="13609"/>
                    </a:cubicBezTo>
                    <a:lnTo>
                      <a:pt x="5200370" y="332639"/>
                    </a:lnTo>
                    <a:cubicBezTo>
                      <a:pt x="5200370" y="340155"/>
                      <a:pt x="5194277" y="346248"/>
                      <a:pt x="5186761" y="346248"/>
                    </a:cubicBezTo>
                    <a:lnTo>
                      <a:pt x="13609" y="346248"/>
                    </a:lnTo>
                    <a:cubicBezTo>
                      <a:pt x="10000" y="346248"/>
                      <a:pt x="6538" y="344814"/>
                      <a:pt x="3986" y="342262"/>
                    </a:cubicBezTo>
                    <a:cubicBezTo>
                      <a:pt x="1434" y="339710"/>
                      <a:pt x="0" y="336248"/>
                      <a:pt x="0" y="332639"/>
                    </a:cubicBezTo>
                    <a:lnTo>
                      <a:pt x="0" y="13609"/>
                    </a:lnTo>
                    <a:cubicBezTo>
                      <a:pt x="0" y="10000"/>
                      <a:pt x="1434" y="6538"/>
                      <a:pt x="3986" y="3986"/>
                    </a:cubicBezTo>
                    <a:cubicBezTo>
                      <a:pt x="6538" y="1434"/>
                      <a:pt x="10000" y="0"/>
                      <a:pt x="13609" y="0"/>
                    </a:cubicBezTo>
                    <a:close/>
                  </a:path>
                </a:pathLst>
              </a:custGeom>
              <a:ln cap="rnd">
                <a:noFill/>
                <a:prstDash val="solid"/>
                <a:round/>
              </a:ln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19050"/>
                <a:ext cx="5200370" cy="36529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 marL="0" indent="0" lvl="0">
                  <a:lnSpc>
                    <a:spcPts val="1260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37333" y="165829"/>
              <a:ext cx="12257550" cy="449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400"/>
                </a:lnSpc>
                <a:spcBef>
                  <a:spcPct val="0"/>
                </a:spcBef>
              </a:pPr>
              <a:r>
                <a:rPr lang="en-US" b="true" sz="2400" spc="-96" strike="noStrike" u="none">
                  <a:solidFill>
                    <a:srgbClr val="000000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Sistema de gamificación (mascota y medalla)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028700" y="7339842"/>
            <a:ext cx="9249163" cy="615822"/>
            <a:chOff x="0" y="0"/>
            <a:chExt cx="12332217" cy="821096"/>
          </a:xfrm>
        </p:grpSpPr>
        <p:grpSp>
          <p:nvGrpSpPr>
            <p:cNvPr name="Group 23" id="23"/>
            <p:cNvGrpSpPr/>
            <p:nvPr/>
          </p:nvGrpSpPr>
          <p:grpSpPr>
            <a:xfrm rot="0">
              <a:off x="0" y="0"/>
              <a:ext cx="12332217" cy="821096"/>
              <a:chOff x="0" y="0"/>
              <a:chExt cx="5200370" cy="346248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5200370" cy="346248"/>
              </a:xfrm>
              <a:custGeom>
                <a:avLst/>
                <a:gdLst/>
                <a:ahLst/>
                <a:cxnLst/>
                <a:rect r="r" b="b" t="t" l="l"/>
                <a:pathLst>
                  <a:path h="346248" w="5200370">
                    <a:moveTo>
                      <a:pt x="13609" y="0"/>
                    </a:moveTo>
                    <a:lnTo>
                      <a:pt x="5186761" y="0"/>
                    </a:lnTo>
                    <a:cubicBezTo>
                      <a:pt x="5190370" y="0"/>
                      <a:pt x="5193832" y="1434"/>
                      <a:pt x="5196384" y="3986"/>
                    </a:cubicBezTo>
                    <a:cubicBezTo>
                      <a:pt x="5198936" y="6538"/>
                      <a:pt x="5200370" y="10000"/>
                      <a:pt x="5200370" y="13609"/>
                    </a:cubicBezTo>
                    <a:lnTo>
                      <a:pt x="5200370" y="332639"/>
                    </a:lnTo>
                    <a:cubicBezTo>
                      <a:pt x="5200370" y="340155"/>
                      <a:pt x="5194277" y="346248"/>
                      <a:pt x="5186761" y="346248"/>
                    </a:cubicBezTo>
                    <a:lnTo>
                      <a:pt x="13609" y="346248"/>
                    </a:lnTo>
                    <a:cubicBezTo>
                      <a:pt x="10000" y="346248"/>
                      <a:pt x="6538" y="344814"/>
                      <a:pt x="3986" y="342262"/>
                    </a:cubicBezTo>
                    <a:cubicBezTo>
                      <a:pt x="1434" y="339710"/>
                      <a:pt x="0" y="336248"/>
                      <a:pt x="0" y="332639"/>
                    </a:cubicBezTo>
                    <a:lnTo>
                      <a:pt x="0" y="13609"/>
                    </a:lnTo>
                    <a:cubicBezTo>
                      <a:pt x="0" y="10000"/>
                      <a:pt x="1434" y="6538"/>
                      <a:pt x="3986" y="3986"/>
                    </a:cubicBezTo>
                    <a:cubicBezTo>
                      <a:pt x="6538" y="1434"/>
                      <a:pt x="10000" y="0"/>
                      <a:pt x="13609" y="0"/>
                    </a:cubicBezTo>
                    <a:close/>
                  </a:path>
                </a:pathLst>
              </a:custGeom>
              <a:ln cap="rnd">
                <a:noFill/>
                <a:prstDash val="solid"/>
                <a:round/>
              </a:ln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-19050"/>
                <a:ext cx="5200370" cy="36529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 marL="0" indent="0" lvl="0">
                  <a:lnSpc>
                    <a:spcPts val="1260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TextBox 26" id="26"/>
            <p:cNvSpPr txBox="true"/>
            <p:nvPr/>
          </p:nvSpPr>
          <p:spPr>
            <a:xfrm rot="0">
              <a:off x="37333" y="165829"/>
              <a:ext cx="12257550" cy="449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400"/>
                </a:lnSpc>
                <a:spcBef>
                  <a:spcPct val="0"/>
                </a:spcBef>
              </a:pPr>
              <a:r>
                <a:rPr lang="en-US" b="true" sz="2400" spc="-96" strike="noStrike" u="none">
                  <a:solidFill>
                    <a:srgbClr val="000000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Gestión de usuarios (registro, login, perfil)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028700" y="7916988"/>
            <a:ext cx="9249163" cy="615822"/>
            <a:chOff x="0" y="0"/>
            <a:chExt cx="12332217" cy="821096"/>
          </a:xfrm>
        </p:grpSpPr>
        <p:grpSp>
          <p:nvGrpSpPr>
            <p:cNvPr name="Group 28" id="28"/>
            <p:cNvGrpSpPr/>
            <p:nvPr/>
          </p:nvGrpSpPr>
          <p:grpSpPr>
            <a:xfrm rot="0">
              <a:off x="0" y="0"/>
              <a:ext cx="12332217" cy="821096"/>
              <a:chOff x="0" y="0"/>
              <a:chExt cx="5200370" cy="346248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5200370" cy="346248"/>
              </a:xfrm>
              <a:custGeom>
                <a:avLst/>
                <a:gdLst/>
                <a:ahLst/>
                <a:cxnLst/>
                <a:rect r="r" b="b" t="t" l="l"/>
                <a:pathLst>
                  <a:path h="346248" w="5200370">
                    <a:moveTo>
                      <a:pt x="13609" y="0"/>
                    </a:moveTo>
                    <a:lnTo>
                      <a:pt x="5186761" y="0"/>
                    </a:lnTo>
                    <a:cubicBezTo>
                      <a:pt x="5190370" y="0"/>
                      <a:pt x="5193832" y="1434"/>
                      <a:pt x="5196384" y="3986"/>
                    </a:cubicBezTo>
                    <a:cubicBezTo>
                      <a:pt x="5198936" y="6538"/>
                      <a:pt x="5200370" y="10000"/>
                      <a:pt x="5200370" y="13609"/>
                    </a:cubicBezTo>
                    <a:lnTo>
                      <a:pt x="5200370" y="332639"/>
                    </a:lnTo>
                    <a:cubicBezTo>
                      <a:pt x="5200370" y="340155"/>
                      <a:pt x="5194277" y="346248"/>
                      <a:pt x="5186761" y="346248"/>
                    </a:cubicBezTo>
                    <a:lnTo>
                      <a:pt x="13609" y="346248"/>
                    </a:lnTo>
                    <a:cubicBezTo>
                      <a:pt x="10000" y="346248"/>
                      <a:pt x="6538" y="344814"/>
                      <a:pt x="3986" y="342262"/>
                    </a:cubicBezTo>
                    <a:cubicBezTo>
                      <a:pt x="1434" y="339710"/>
                      <a:pt x="0" y="336248"/>
                      <a:pt x="0" y="332639"/>
                    </a:cubicBezTo>
                    <a:lnTo>
                      <a:pt x="0" y="13609"/>
                    </a:lnTo>
                    <a:cubicBezTo>
                      <a:pt x="0" y="10000"/>
                      <a:pt x="1434" y="6538"/>
                      <a:pt x="3986" y="3986"/>
                    </a:cubicBezTo>
                    <a:cubicBezTo>
                      <a:pt x="6538" y="1434"/>
                      <a:pt x="10000" y="0"/>
                      <a:pt x="13609" y="0"/>
                    </a:cubicBezTo>
                    <a:close/>
                  </a:path>
                </a:pathLst>
              </a:custGeom>
              <a:ln cap="rnd">
                <a:noFill/>
                <a:prstDash val="solid"/>
                <a:round/>
              </a:ln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19050"/>
                <a:ext cx="5200370" cy="36529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 marL="0" indent="0" lvl="0">
                  <a:lnSpc>
                    <a:spcPts val="1260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TextBox 31" id="31"/>
            <p:cNvSpPr txBox="true"/>
            <p:nvPr/>
          </p:nvSpPr>
          <p:spPr>
            <a:xfrm rot="0">
              <a:off x="37333" y="165829"/>
              <a:ext cx="12257550" cy="449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400"/>
                </a:lnSpc>
                <a:spcBef>
                  <a:spcPct val="0"/>
                </a:spcBef>
              </a:pPr>
              <a:r>
                <a:rPr lang="en-US" b="true" sz="2400" spc="-96" strike="noStrike" u="none">
                  <a:solidFill>
                    <a:srgbClr val="000000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Panel administrativo con CRUD de lugares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028700" y="8494134"/>
            <a:ext cx="9249163" cy="905344"/>
            <a:chOff x="0" y="0"/>
            <a:chExt cx="12332217" cy="1207125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0" y="0"/>
              <a:ext cx="12332217" cy="1207125"/>
              <a:chOff x="0" y="0"/>
              <a:chExt cx="5200370" cy="509032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5200370" cy="509032"/>
              </a:xfrm>
              <a:custGeom>
                <a:avLst/>
                <a:gdLst/>
                <a:ahLst/>
                <a:cxnLst/>
                <a:rect r="r" b="b" t="t" l="l"/>
                <a:pathLst>
                  <a:path h="509032" w="5200370">
                    <a:moveTo>
                      <a:pt x="13609" y="0"/>
                    </a:moveTo>
                    <a:lnTo>
                      <a:pt x="5186761" y="0"/>
                    </a:lnTo>
                    <a:cubicBezTo>
                      <a:pt x="5190370" y="0"/>
                      <a:pt x="5193832" y="1434"/>
                      <a:pt x="5196384" y="3986"/>
                    </a:cubicBezTo>
                    <a:cubicBezTo>
                      <a:pt x="5198936" y="6538"/>
                      <a:pt x="5200370" y="10000"/>
                      <a:pt x="5200370" y="13609"/>
                    </a:cubicBezTo>
                    <a:lnTo>
                      <a:pt x="5200370" y="495423"/>
                    </a:lnTo>
                    <a:cubicBezTo>
                      <a:pt x="5200370" y="499033"/>
                      <a:pt x="5198936" y="502494"/>
                      <a:pt x="5196384" y="505046"/>
                    </a:cubicBezTo>
                    <a:cubicBezTo>
                      <a:pt x="5193832" y="507599"/>
                      <a:pt x="5190370" y="509032"/>
                      <a:pt x="5186761" y="509032"/>
                    </a:cubicBezTo>
                    <a:lnTo>
                      <a:pt x="13609" y="509032"/>
                    </a:lnTo>
                    <a:cubicBezTo>
                      <a:pt x="10000" y="509032"/>
                      <a:pt x="6538" y="507599"/>
                      <a:pt x="3986" y="505046"/>
                    </a:cubicBezTo>
                    <a:cubicBezTo>
                      <a:pt x="1434" y="502494"/>
                      <a:pt x="0" y="499033"/>
                      <a:pt x="0" y="495423"/>
                    </a:cubicBezTo>
                    <a:lnTo>
                      <a:pt x="0" y="13609"/>
                    </a:lnTo>
                    <a:cubicBezTo>
                      <a:pt x="0" y="10000"/>
                      <a:pt x="1434" y="6538"/>
                      <a:pt x="3986" y="3986"/>
                    </a:cubicBezTo>
                    <a:cubicBezTo>
                      <a:pt x="6538" y="1434"/>
                      <a:pt x="10000" y="0"/>
                      <a:pt x="13609" y="0"/>
                    </a:cubicBezTo>
                    <a:close/>
                  </a:path>
                </a:pathLst>
              </a:custGeom>
              <a:ln cap="rnd">
                <a:noFill/>
                <a:prstDash val="solid"/>
                <a:round/>
              </a:ln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0" y="-19050"/>
                <a:ext cx="5200370" cy="52808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 marL="0" indent="0" lvl="0">
                  <a:lnSpc>
                    <a:spcPts val="1260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TextBox 36" id="36"/>
            <p:cNvSpPr txBox="true"/>
            <p:nvPr/>
          </p:nvSpPr>
          <p:spPr>
            <a:xfrm rot="0">
              <a:off x="37333" y="165829"/>
              <a:ext cx="12257550" cy="449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400"/>
                </a:lnSpc>
                <a:spcBef>
                  <a:spcPct val="0"/>
                </a:spcBef>
              </a:pPr>
              <a:r>
                <a:rPr lang="en-US" b="true" sz="2400" spc="-96" strike="noStrike" u="none">
                  <a:solidFill>
                    <a:srgbClr val="000000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Canal de soporte y recomendaciones (reportes, reseñas)</a:t>
              </a:r>
            </a:p>
          </p:txBody>
        </p:sp>
      </p:grpSp>
      <p:sp>
        <p:nvSpPr>
          <p:cNvPr name="Freeform 37" id="37"/>
          <p:cNvSpPr/>
          <p:nvPr/>
        </p:nvSpPr>
        <p:spPr>
          <a:xfrm flipH="false" flipV="false" rot="0">
            <a:off x="9297789" y="2217324"/>
            <a:ext cx="8687981" cy="7510979"/>
          </a:xfrm>
          <a:custGeom>
            <a:avLst/>
            <a:gdLst/>
            <a:ahLst/>
            <a:cxnLst/>
            <a:rect r="r" b="b" t="t" l="l"/>
            <a:pathLst>
              <a:path h="7510979" w="8687981">
                <a:moveTo>
                  <a:pt x="0" y="0"/>
                </a:moveTo>
                <a:lnTo>
                  <a:pt x="8687981" y="0"/>
                </a:lnTo>
                <a:lnTo>
                  <a:pt x="8687981" y="7510980"/>
                </a:lnTo>
                <a:lnTo>
                  <a:pt x="0" y="75109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32279" r="-43599" b="-47111"/>
            </a:stretch>
          </a:blipFill>
        </p:spPr>
      </p:sp>
      <p:sp>
        <p:nvSpPr>
          <p:cNvPr name="TextBox 38" id="38"/>
          <p:cNvSpPr txBox="true"/>
          <p:nvPr/>
        </p:nvSpPr>
        <p:spPr>
          <a:xfrm rot="0">
            <a:off x="1028700" y="1776945"/>
            <a:ext cx="9027677" cy="1279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99"/>
              </a:lnSpc>
            </a:pPr>
            <a:r>
              <a:rPr lang="en-US" sz="9999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Culture Go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28700" y="3299025"/>
            <a:ext cx="10923222" cy="976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spc="-83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App móvil</a:t>
            </a:r>
            <a:r>
              <a:rPr lang="en-US" sz="2799" spc="-83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para</a:t>
            </a:r>
            <a:r>
              <a:rPr lang="en-US" b="true" sz="2799" spc="-83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descubrir atractivos culturales de Santiago</a:t>
            </a:r>
            <a:r>
              <a:rPr lang="en-US" sz="2799" spc="-83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, con foco en lugares de menor visibilidad.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62759" y="949891"/>
            <a:ext cx="13371466" cy="647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86"/>
              </a:lnSpc>
            </a:pPr>
            <a:r>
              <a:rPr lang="en-US" sz="4886" spc="-195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Solución propuesta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28700" y="4732941"/>
            <a:ext cx="7303054" cy="613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rPr>
              <a:t>Principales funcionalidades: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488007" y="772179"/>
            <a:ext cx="9027677" cy="1279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499"/>
              </a:lnSpc>
              <a:spcBef>
                <a:spcPct val="0"/>
              </a:spcBef>
            </a:pPr>
            <a:r>
              <a:rPr lang="en-US" sz="9999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Culture Go</a:t>
            </a:r>
          </a:p>
        </p:txBody>
      </p:sp>
      <p:sp>
        <p:nvSpPr>
          <p:cNvPr name="Freeform 3" id="3"/>
          <p:cNvSpPr/>
          <p:nvPr/>
        </p:nvSpPr>
        <p:spPr>
          <a:xfrm flipH="false" flipV="true" rot="0">
            <a:off x="12568813" y="-24024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275905" y="-1066396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8" y="2537890"/>
                </a:lnTo>
                <a:lnTo>
                  <a:pt x="5719188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-1355938" y="844575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89"/>
                </a:moveTo>
                <a:lnTo>
                  <a:pt x="5719187" y="2537889"/>
                </a:lnTo>
                <a:lnTo>
                  <a:pt x="5719187" y="0"/>
                </a:lnTo>
                <a:lnTo>
                  <a:pt x="0" y="0"/>
                </a:lnTo>
                <a:lnTo>
                  <a:pt x="0" y="253788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1951194" y="901805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8855795">
            <a:off x="-1664865" y="-833641"/>
            <a:ext cx="3329730" cy="4268884"/>
          </a:xfrm>
          <a:custGeom>
            <a:avLst/>
            <a:gdLst/>
            <a:ahLst/>
            <a:cxnLst/>
            <a:rect r="r" b="b" t="t" l="l"/>
            <a:pathLst>
              <a:path h="4268884" w="3329730">
                <a:moveTo>
                  <a:pt x="0" y="0"/>
                </a:moveTo>
                <a:lnTo>
                  <a:pt x="3329730" y="0"/>
                </a:lnTo>
                <a:lnTo>
                  <a:pt x="3329730" y="4268885"/>
                </a:lnTo>
                <a:lnTo>
                  <a:pt x="0" y="426888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8462148" y="6293991"/>
            <a:ext cx="1079396" cy="1284995"/>
          </a:xfrm>
          <a:custGeom>
            <a:avLst/>
            <a:gdLst/>
            <a:ahLst/>
            <a:cxnLst/>
            <a:rect r="r" b="b" t="t" l="l"/>
            <a:pathLst>
              <a:path h="1284995" w="1079396">
                <a:moveTo>
                  <a:pt x="0" y="0"/>
                </a:moveTo>
                <a:lnTo>
                  <a:pt x="1079396" y="0"/>
                </a:lnTo>
                <a:lnTo>
                  <a:pt x="1079396" y="1284995"/>
                </a:lnTo>
                <a:lnTo>
                  <a:pt x="0" y="1284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5138996" y="2558802"/>
            <a:ext cx="7725701" cy="511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65"/>
              </a:lnSpc>
              <a:spcBef>
                <a:spcPct val="0"/>
              </a:spcBef>
            </a:pPr>
            <a:r>
              <a:rPr lang="en-US" b="true" sz="3865" spc="-154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¿Cómo soluciona el problema?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92322" y="3301949"/>
            <a:ext cx="14819047" cy="1471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Reemplaza la información genérica y repetitiva de las plataformas actuales por un</a:t>
            </a:r>
            <a:r>
              <a:rPr lang="en-US" b="true" sz="27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catálogo curado y filtrable de lugares poco conocidos</a:t>
            </a: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, y usa </a:t>
            </a:r>
            <a:r>
              <a:rPr lang="en-US" b="true" sz="27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gamificación </a:t>
            </a: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para motivar su visita real.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3170" y="6483243"/>
            <a:ext cx="4634228" cy="3527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50"/>
              </a:lnSpc>
              <a:spcBef>
                <a:spcPct val="0"/>
              </a:spcBef>
            </a:pPr>
            <a:r>
              <a:rPr lang="en-US" sz="2650" spc="-106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itios 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web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e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xtenso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973120" y="6823468"/>
            <a:ext cx="4726414" cy="353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50"/>
              </a:lnSpc>
              <a:spcBef>
                <a:spcPct val="0"/>
              </a:spcBef>
            </a:pP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in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f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tr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 de 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gra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tui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96708" y="7736588"/>
            <a:ext cx="7533082" cy="353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50"/>
              </a:lnSpc>
              <a:spcBef>
                <a:spcPct val="0"/>
              </a:spcBef>
            </a:pPr>
            <a:r>
              <a:rPr lang="en-US" sz="2650" spc="-106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Sin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er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fil ni g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ami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ficació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28700" y="8693738"/>
            <a:ext cx="7389499" cy="6864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50"/>
              </a:lnSpc>
              <a:spcBef>
                <a:spcPct val="0"/>
              </a:spcBef>
            </a:pP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Descubrimiento limitado: Siempre se muestra los mismos lugares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901683" y="6341616"/>
            <a:ext cx="7979569" cy="353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650"/>
              </a:lnSpc>
              <a:spcBef>
                <a:spcPct val="0"/>
              </a:spcBef>
            </a:pPr>
            <a:r>
              <a:rPr lang="en-US" sz="2650" spc="-106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pa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i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n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tiv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 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con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c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ober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tura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d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todo Santiago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947916" y="7225908"/>
            <a:ext cx="6766560" cy="353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50"/>
              </a:lnSpc>
              <a:spcBef>
                <a:spcPct val="0"/>
              </a:spcBef>
            </a:pPr>
            <a:r>
              <a:rPr lang="en-US" sz="2650" spc="-106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Filtros 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cat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ego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ría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,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co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una y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gr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at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u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</a:t>
            </a: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256709" y="8226686"/>
            <a:ext cx="6624208" cy="353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50"/>
              </a:lnSpc>
              <a:spcBef>
                <a:spcPct val="0"/>
              </a:spcBef>
            </a:pPr>
            <a:r>
              <a:rPr lang="en-US" sz="2650" spc="-106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Todo integrado en una sola plataforma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745651" y="4914425"/>
            <a:ext cx="5484712" cy="7696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71"/>
              </a:lnSpc>
            </a:pPr>
            <a:r>
              <a:rPr lang="en-US" sz="6075">
                <a:solidFill>
                  <a:srgbClr val="7A5EA8"/>
                </a:solidFill>
                <a:latin typeface="Luducudu"/>
                <a:ea typeface="Luducudu"/>
                <a:cs typeface="Luducudu"/>
                <a:sym typeface="Luducudu"/>
              </a:rPr>
              <a:t>antes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0773329" y="4926279"/>
            <a:ext cx="5484712" cy="7696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71"/>
              </a:lnSpc>
            </a:pPr>
            <a:r>
              <a:rPr lang="en-US" sz="6075">
                <a:solidFill>
                  <a:srgbClr val="7A5EA8"/>
                </a:solidFill>
                <a:latin typeface="Luducudu"/>
                <a:ea typeface="Luducudu"/>
                <a:cs typeface="Luducudu"/>
                <a:sym typeface="Luducudu"/>
              </a:rPr>
              <a:t>después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901683" y="9113164"/>
            <a:ext cx="8203645" cy="353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650"/>
              </a:lnSpc>
              <a:spcBef>
                <a:spcPct val="0"/>
              </a:spcBef>
            </a:pPr>
            <a:r>
              <a:rPr lang="en-US" b="true" sz="2650" spc="-106" strike="noStrike" u="non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Selección curada y variada de atractivos culturales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D3C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062231" y="-903447"/>
            <a:ext cx="6426280" cy="3364040"/>
            <a:chOff x="0" y="0"/>
            <a:chExt cx="8568373" cy="4485387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0" y="1101535"/>
              <a:ext cx="7625583" cy="3383852"/>
            </a:xfrm>
            <a:custGeom>
              <a:avLst/>
              <a:gdLst/>
              <a:ahLst/>
              <a:cxnLst/>
              <a:rect r="r" b="b" t="t" l="l"/>
              <a:pathLst>
                <a:path h="3383852" w="7625583">
                  <a:moveTo>
                    <a:pt x="0" y="3383852"/>
                  </a:moveTo>
                  <a:lnTo>
                    <a:pt x="7625583" y="3383852"/>
                  </a:lnTo>
                  <a:lnTo>
                    <a:pt x="7625583" y="0"/>
                  </a:lnTo>
                  <a:lnTo>
                    <a:pt x="0" y="0"/>
                  </a:lnTo>
                  <a:lnTo>
                    <a:pt x="0" y="3383852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942790" y="0"/>
              <a:ext cx="7625583" cy="3383852"/>
            </a:xfrm>
            <a:custGeom>
              <a:avLst/>
              <a:gdLst/>
              <a:ahLst/>
              <a:cxnLst/>
              <a:rect r="r" b="b" t="t" l="l"/>
              <a:pathLst>
                <a:path h="3383852" w="7625583">
                  <a:moveTo>
                    <a:pt x="0" y="3383852"/>
                  </a:moveTo>
                  <a:lnTo>
                    <a:pt x="7625583" y="3383852"/>
                  </a:lnTo>
                  <a:lnTo>
                    <a:pt x="7625583" y="0"/>
                  </a:lnTo>
                  <a:lnTo>
                    <a:pt x="0" y="0"/>
                  </a:lnTo>
                  <a:lnTo>
                    <a:pt x="0" y="3383852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4507802" y="2291857"/>
            <a:ext cx="9272395" cy="3779850"/>
            <a:chOff x="0" y="0"/>
            <a:chExt cx="3685286" cy="150229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85286" cy="1502290"/>
            </a:xfrm>
            <a:custGeom>
              <a:avLst/>
              <a:gdLst/>
              <a:ahLst/>
              <a:cxnLst/>
              <a:rect r="r" b="b" t="t" l="l"/>
              <a:pathLst>
                <a:path h="1502290" w="3685286">
                  <a:moveTo>
                    <a:pt x="19204" y="0"/>
                  </a:moveTo>
                  <a:lnTo>
                    <a:pt x="3666083" y="0"/>
                  </a:lnTo>
                  <a:cubicBezTo>
                    <a:pt x="3676688" y="0"/>
                    <a:pt x="3685286" y="8598"/>
                    <a:pt x="3685286" y="19204"/>
                  </a:cubicBezTo>
                  <a:lnTo>
                    <a:pt x="3685286" y="1483087"/>
                  </a:lnTo>
                  <a:cubicBezTo>
                    <a:pt x="3685286" y="1488180"/>
                    <a:pt x="3683263" y="1493064"/>
                    <a:pt x="3679662" y="1496666"/>
                  </a:cubicBezTo>
                  <a:cubicBezTo>
                    <a:pt x="3676060" y="1500267"/>
                    <a:pt x="3671176" y="1502290"/>
                    <a:pt x="3666083" y="1502290"/>
                  </a:cubicBezTo>
                  <a:lnTo>
                    <a:pt x="19204" y="1502290"/>
                  </a:lnTo>
                  <a:cubicBezTo>
                    <a:pt x="14111" y="1502290"/>
                    <a:pt x="9226" y="1500267"/>
                    <a:pt x="5625" y="1496666"/>
                  </a:cubicBezTo>
                  <a:cubicBezTo>
                    <a:pt x="2023" y="1493064"/>
                    <a:pt x="0" y="1488180"/>
                    <a:pt x="0" y="1483087"/>
                  </a:cubicBezTo>
                  <a:lnTo>
                    <a:pt x="0" y="19204"/>
                  </a:lnTo>
                  <a:cubicBezTo>
                    <a:pt x="0" y="14111"/>
                    <a:pt x="2023" y="9226"/>
                    <a:pt x="5625" y="5625"/>
                  </a:cubicBezTo>
                  <a:cubicBezTo>
                    <a:pt x="9226" y="2023"/>
                    <a:pt x="14111" y="0"/>
                    <a:pt x="19204" y="0"/>
                  </a:cubicBezTo>
                  <a:close/>
                </a:path>
              </a:pathLst>
            </a:custGeom>
            <a:solidFill>
              <a:srgbClr val="7E6597"/>
            </a:solidFill>
            <a:ln cap="rnd">
              <a:noFill/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85286" cy="15403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3263562" y="3924201"/>
            <a:ext cx="2872067" cy="2976235"/>
          </a:xfrm>
          <a:custGeom>
            <a:avLst/>
            <a:gdLst/>
            <a:ahLst/>
            <a:cxnLst/>
            <a:rect r="r" b="b" t="t" l="l"/>
            <a:pathLst>
              <a:path h="2976235" w="2872067">
                <a:moveTo>
                  <a:pt x="0" y="0"/>
                </a:moveTo>
                <a:lnTo>
                  <a:pt x="2872067" y="0"/>
                </a:lnTo>
                <a:lnTo>
                  <a:pt x="2872067" y="2976235"/>
                </a:lnTo>
                <a:lnTo>
                  <a:pt x="0" y="29762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18349" y="654655"/>
            <a:ext cx="12995027" cy="1279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499"/>
              </a:lnSpc>
              <a:spcBef>
                <a:spcPct val="0"/>
              </a:spcBef>
            </a:pPr>
            <a:r>
              <a:rPr lang="en-US" sz="9999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objetivo general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187410" y="2704454"/>
            <a:ext cx="7874821" cy="2887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19"/>
              </a:lnSpc>
            </a:pPr>
            <a:r>
              <a:rPr lang="en-US" sz="3299">
                <a:solidFill>
                  <a:srgbClr val="FFFFF3"/>
                </a:solidFill>
                <a:latin typeface="Canva Sans"/>
                <a:ea typeface="Canva Sans"/>
                <a:cs typeface="Canva Sans"/>
                <a:sym typeface="Canva Sans"/>
              </a:rPr>
              <a:t>Desarrollar CultureGo en 18 semanas, cubriendo el 100% de los 12 requerimientos funcionales definidos en la ERS y validando su funcionamiento con usuarios reales.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691062" y="6433657"/>
            <a:ext cx="8572500" cy="4667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19"/>
              </a:lnSpc>
            </a:pPr>
            <a:r>
              <a:rPr lang="en-US" sz="3099">
                <a:solidFill>
                  <a:srgbClr val="A986CC"/>
                </a:solidFill>
                <a:latin typeface="Bree Serif"/>
                <a:ea typeface="Bree Serif"/>
                <a:cs typeface="Bree Serif"/>
                <a:sym typeface="Bree Serif"/>
              </a:rPr>
              <a:t>REQUERIMIENTOS FUNCIONALES</a:t>
            </a:r>
          </a:p>
        </p:txBody>
      </p:sp>
      <p:sp>
        <p:nvSpPr>
          <p:cNvPr name="AutoShape 12" id="12"/>
          <p:cNvSpPr/>
          <p:nvPr/>
        </p:nvSpPr>
        <p:spPr>
          <a:xfrm>
            <a:off x="6119812" y="6952796"/>
            <a:ext cx="5715000" cy="0"/>
          </a:xfrm>
          <a:prstGeom prst="line">
            <a:avLst/>
          </a:prstGeom>
          <a:ln cap="flat" w="19050">
            <a:solidFill>
              <a:srgbClr val="A986CC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3" id="13"/>
          <p:cNvGrpSpPr/>
          <p:nvPr/>
        </p:nvGrpSpPr>
        <p:grpSpPr>
          <a:xfrm rot="0">
            <a:off x="785812" y="7143296"/>
            <a:ext cx="266700" cy="266700"/>
            <a:chOff x="0" y="0"/>
            <a:chExt cx="355600" cy="3556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55600" cy="355600"/>
            </a:xfrm>
            <a:custGeom>
              <a:avLst/>
              <a:gdLst/>
              <a:ahLst/>
              <a:cxnLst/>
              <a:rect r="r" b="b" t="t" l="l"/>
              <a:pathLst>
                <a:path h="355600" w="355600">
                  <a:moveTo>
                    <a:pt x="177800" y="0"/>
                  </a:moveTo>
                  <a:cubicBezTo>
                    <a:pt x="79604" y="0"/>
                    <a:pt x="0" y="79604"/>
                    <a:pt x="0" y="177800"/>
                  </a:cubicBezTo>
                  <a:cubicBezTo>
                    <a:pt x="0" y="275996"/>
                    <a:pt x="79604" y="355600"/>
                    <a:pt x="177800" y="355600"/>
                  </a:cubicBezTo>
                  <a:cubicBezTo>
                    <a:pt x="275996" y="355600"/>
                    <a:pt x="355600" y="275996"/>
                    <a:pt x="355600" y="177800"/>
                  </a:cubicBezTo>
                  <a:cubicBezTo>
                    <a:pt x="355600" y="79604"/>
                    <a:pt x="275996" y="0"/>
                    <a:pt x="177800" y="0"/>
                  </a:cubicBezTo>
                  <a:close/>
                </a:path>
              </a:pathLst>
            </a:custGeom>
            <a:solidFill>
              <a:srgbClr val="A986CC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355600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09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785812" y="7080445"/>
            <a:ext cx="266700" cy="34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2"/>
              </a:lnSpc>
            </a:pPr>
            <a:r>
              <a:rPr lang="en-US" sz="2065">
                <a:solidFill>
                  <a:srgbClr val="4D3C6C"/>
                </a:solidFill>
                <a:latin typeface="Bree Serif"/>
                <a:ea typeface="Bree Serif"/>
                <a:cs typeface="Bree Serif"/>
                <a:sym typeface="Bree Serif"/>
              </a:rPr>
              <a:t>1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47762" y="7109959"/>
            <a:ext cx="5019675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Registro de usuario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453187" y="7143296"/>
            <a:ext cx="266700" cy="266700"/>
            <a:chOff x="0" y="0"/>
            <a:chExt cx="355600" cy="3556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55600" cy="355600"/>
            </a:xfrm>
            <a:custGeom>
              <a:avLst/>
              <a:gdLst/>
              <a:ahLst/>
              <a:cxnLst/>
              <a:rect r="r" b="b" t="t" l="l"/>
              <a:pathLst>
                <a:path h="355600" w="355600">
                  <a:moveTo>
                    <a:pt x="177800" y="0"/>
                  </a:moveTo>
                  <a:cubicBezTo>
                    <a:pt x="79604" y="0"/>
                    <a:pt x="0" y="79604"/>
                    <a:pt x="0" y="177800"/>
                  </a:cubicBezTo>
                  <a:cubicBezTo>
                    <a:pt x="0" y="275996"/>
                    <a:pt x="79604" y="355600"/>
                    <a:pt x="177800" y="355600"/>
                  </a:cubicBezTo>
                  <a:cubicBezTo>
                    <a:pt x="275996" y="355600"/>
                    <a:pt x="355600" y="275996"/>
                    <a:pt x="355600" y="177800"/>
                  </a:cubicBezTo>
                  <a:cubicBezTo>
                    <a:pt x="355600" y="79604"/>
                    <a:pt x="275996" y="0"/>
                    <a:pt x="177800" y="0"/>
                  </a:cubicBezTo>
                  <a:close/>
                </a:path>
              </a:pathLst>
            </a:custGeom>
            <a:solidFill>
              <a:srgbClr val="A986CC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355600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09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6453187" y="7080445"/>
            <a:ext cx="266700" cy="34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2"/>
              </a:lnSpc>
            </a:pPr>
            <a:r>
              <a:rPr lang="en-US" sz="2065">
                <a:solidFill>
                  <a:srgbClr val="4D3C6C"/>
                </a:solidFill>
                <a:latin typeface="Bree Serif"/>
                <a:ea typeface="Bree Serif"/>
                <a:cs typeface="Bree Serif"/>
                <a:sym typeface="Bree Serif"/>
              </a:rPr>
              <a:t>2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815137" y="7109959"/>
            <a:ext cx="5019675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Inicio de sesión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2120562" y="7143296"/>
            <a:ext cx="266700" cy="266700"/>
            <a:chOff x="0" y="0"/>
            <a:chExt cx="355600" cy="3556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55600" cy="355600"/>
            </a:xfrm>
            <a:custGeom>
              <a:avLst/>
              <a:gdLst/>
              <a:ahLst/>
              <a:cxnLst/>
              <a:rect r="r" b="b" t="t" l="l"/>
              <a:pathLst>
                <a:path h="355600" w="355600">
                  <a:moveTo>
                    <a:pt x="177800" y="0"/>
                  </a:moveTo>
                  <a:cubicBezTo>
                    <a:pt x="79604" y="0"/>
                    <a:pt x="0" y="79604"/>
                    <a:pt x="0" y="177800"/>
                  </a:cubicBezTo>
                  <a:cubicBezTo>
                    <a:pt x="0" y="275996"/>
                    <a:pt x="79604" y="355600"/>
                    <a:pt x="177800" y="355600"/>
                  </a:cubicBezTo>
                  <a:cubicBezTo>
                    <a:pt x="275996" y="355600"/>
                    <a:pt x="355600" y="275996"/>
                    <a:pt x="355600" y="177800"/>
                  </a:cubicBezTo>
                  <a:cubicBezTo>
                    <a:pt x="355600" y="79604"/>
                    <a:pt x="275996" y="0"/>
                    <a:pt x="177800" y="0"/>
                  </a:cubicBezTo>
                  <a:close/>
                </a:path>
              </a:pathLst>
            </a:custGeom>
            <a:solidFill>
              <a:srgbClr val="A986CC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355600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09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2120562" y="7080445"/>
            <a:ext cx="266700" cy="34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2"/>
              </a:lnSpc>
            </a:pPr>
            <a:r>
              <a:rPr lang="en-US" sz="2065">
                <a:solidFill>
                  <a:srgbClr val="4D3C6C"/>
                </a:solidFill>
                <a:latin typeface="Bree Serif"/>
                <a:ea typeface="Bree Serif"/>
                <a:cs typeface="Bree Serif"/>
                <a:sym typeface="Bree Serif"/>
              </a:rPr>
              <a:t>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482512" y="7109959"/>
            <a:ext cx="5019675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Edición de perfil básico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785812" y="7638596"/>
            <a:ext cx="266700" cy="266700"/>
            <a:chOff x="0" y="0"/>
            <a:chExt cx="355600" cy="3556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55600" cy="355600"/>
            </a:xfrm>
            <a:custGeom>
              <a:avLst/>
              <a:gdLst/>
              <a:ahLst/>
              <a:cxnLst/>
              <a:rect r="r" b="b" t="t" l="l"/>
              <a:pathLst>
                <a:path h="355600" w="355600">
                  <a:moveTo>
                    <a:pt x="177800" y="0"/>
                  </a:moveTo>
                  <a:cubicBezTo>
                    <a:pt x="79604" y="0"/>
                    <a:pt x="0" y="79604"/>
                    <a:pt x="0" y="177800"/>
                  </a:cubicBezTo>
                  <a:cubicBezTo>
                    <a:pt x="0" y="275996"/>
                    <a:pt x="79604" y="355600"/>
                    <a:pt x="177800" y="355600"/>
                  </a:cubicBezTo>
                  <a:cubicBezTo>
                    <a:pt x="275996" y="355600"/>
                    <a:pt x="355600" y="275996"/>
                    <a:pt x="355600" y="177800"/>
                  </a:cubicBezTo>
                  <a:cubicBezTo>
                    <a:pt x="355600" y="79604"/>
                    <a:pt x="275996" y="0"/>
                    <a:pt x="177800" y="0"/>
                  </a:cubicBezTo>
                  <a:close/>
                </a:path>
              </a:pathLst>
            </a:custGeom>
            <a:solidFill>
              <a:srgbClr val="A986CC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355600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099"/>
                </a:lnSpc>
              </a:pP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785812" y="7575745"/>
            <a:ext cx="266700" cy="34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2"/>
              </a:lnSpc>
            </a:pPr>
            <a:r>
              <a:rPr lang="en-US" sz="2065">
                <a:solidFill>
                  <a:srgbClr val="4D3C6C"/>
                </a:solidFill>
                <a:latin typeface="Bree Serif"/>
                <a:ea typeface="Bree Serif"/>
                <a:cs typeface="Bree Serif"/>
                <a:sym typeface="Bree Serif"/>
              </a:rPr>
              <a:t>4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47762" y="7605259"/>
            <a:ext cx="5019675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Visualización de lugares turísticos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6453187" y="7638596"/>
            <a:ext cx="266700" cy="266700"/>
            <a:chOff x="0" y="0"/>
            <a:chExt cx="355600" cy="3556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55600" cy="355600"/>
            </a:xfrm>
            <a:custGeom>
              <a:avLst/>
              <a:gdLst/>
              <a:ahLst/>
              <a:cxnLst/>
              <a:rect r="r" b="b" t="t" l="l"/>
              <a:pathLst>
                <a:path h="355600" w="355600">
                  <a:moveTo>
                    <a:pt x="177800" y="0"/>
                  </a:moveTo>
                  <a:cubicBezTo>
                    <a:pt x="79604" y="0"/>
                    <a:pt x="0" y="79604"/>
                    <a:pt x="0" y="177800"/>
                  </a:cubicBezTo>
                  <a:cubicBezTo>
                    <a:pt x="0" y="275996"/>
                    <a:pt x="79604" y="355600"/>
                    <a:pt x="177800" y="355600"/>
                  </a:cubicBezTo>
                  <a:cubicBezTo>
                    <a:pt x="275996" y="355600"/>
                    <a:pt x="355600" y="275996"/>
                    <a:pt x="355600" y="177800"/>
                  </a:cubicBezTo>
                  <a:cubicBezTo>
                    <a:pt x="355600" y="79604"/>
                    <a:pt x="275996" y="0"/>
                    <a:pt x="177800" y="0"/>
                  </a:cubicBezTo>
                  <a:close/>
                </a:path>
              </a:pathLst>
            </a:custGeom>
            <a:solidFill>
              <a:srgbClr val="A986CC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355600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09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6453187" y="7575745"/>
            <a:ext cx="266700" cy="34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2"/>
              </a:lnSpc>
            </a:pPr>
            <a:r>
              <a:rPr lang="en-US" sz="2065">
                <a:solidFill>
                  <a:srgbClr val="4D3C6C"/>
                </a:solidFill>
                <a:latin typeface="Bree Serif"/>
                <a:ea typeface="Bree Serif"/>
                <a:cs typeface="Bree Serif"/>
                <a:sym typeface="Bree Serif"/>
              </a:rPr>
              <a:t>5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815137" y="7605259"/>
            <a:ext cx="5019675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Filtro por tipo de atractivo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2120562" y="7638596"/>
            <a:ext cx="266700" cy="266700"/>
            <a:chOff x="0" y="0"/>
            <a:chExt cx="355600" cy="3556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355600" cy="355600"/>
            </a:xfrm>
            <a:custGeom>
              <a:avLst/>
              <a:gdLst/>
              <a:ahLst/>
              <a:cxnLst/>
              <a:rect r="r" b="b" t="t" l="l"/>
              <a:pathLst>
                <a:path h="355600" w="355600">
                  <a:moveTo>
                    <a:pt x="177800" y="0"/>
                  </a:moveTo>
                  <a:cubicBezTo>
                    <a:pt x="79604" y="0"/>
                    <a:pt x="0" y="79604"/>
                    <a:pt x="0" y="177800"/>
                  </a:cubicBezTo>
                  <a:cubicBezTo>
                    <a:pt x="0" y="275996"/>
                    <a:pt x="79604" y="355600"/>
                    <a:pt x="177800" y="355600"/>
                  </a:cubicBezTo>
                  <a:cubicBezTo>
                    <a:pt x="275996" y="355600"/>
                    <a:pt x="355600" y="275996"/>
                    <a:pt x="355600" y="177800"/>
                  </a:cubicBezTo>
                  <a:cubicBezTo>
                    <a:pt x="355600" y="79604"/>
                    <a:pt x="275996" y="0"/>
                    <a:pt x="177800" y="0"/>
                  </a:cubicBezTo>
                  <a:close/>
                </a:path>
              </a:pathLst>
            </a:custGeom>
            <a:solidFill>
              <a:srgbClr val="A986CC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355600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099"/>
                </a:lnSpc>
              </a:pP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12120562" y="7575745"/>
            <a:ext cx="266700" cy="34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2"/>
              </a:lnSpc>
            </a:pPr>
            <a:r>
              <a:rPr lang="en-US" sz="2065">
                <a:solidFill>
                  <a:srgbClr val="4D3C6C"/>
                </a:solidFill>
                <a:latin typeface="Bree Serif"/>
                <a:ea typeface="Bree Serif"/>
                <a:cs typeface="Bree Serif"/>
                <a:sym typeface="Bree Serif"/>
              </a:rPr>
              <a:t>6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482512" y="7605259"/>
            <a:ext cx="5019675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Filtro por comuna</a:t>
            </a:r>
          </a:p>
        </p:txBody>
      </p:sp>
      <p:grpSp>
        <p:nvGrpSpPr>
          <p:cNvPr name="Group 43" id="43"/>
          <p:cNvGrpSpPr/>
          <p:nvPr/>
        </p:nvGrpSpPr>
        <p:grpSpPr>
          <a:xfrm rot="0">
            <a:off x="785812" y="8133896"/>
            <a:ext cx="266700" cy="266700"/>
            <a:chOff x="0" y="0"/>
            <a:chExt cx="355600" cy="3556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355600" cy="355600"/>
            </a:xfrm>
            <a:custGeom>
              <a:avLst/>
              <a:gdLst/>
              <a:ahLst/>
              <a:cxnLst/>
              <a:rect r="r" b="b" t="t" l="l"/>
              <a:pathLst>
                <a:path h="355600" w="355600">
                  <a:moveTo>
                    <a:pt x="177800" y="0"/>
                  </a:moveTo>
                  <a:cubicBezTo>
                    <a:pt x="79604" y="0"/>
                    <a:pt x="0" y="79604"/>
                    <a:pt x="0" y="177800"/>
                  </a:cubicBezTo>
                  <a:cubicBezTo>
                    <a:pt x="0" y="275996"/>
                    <a:pt x="79604" y="355600"/>
                    <a:pt x="177800" y="355600"/>
                  </a:cubicBezTo>
                  <a:cubicBezTo>
                    <a:pt x="275996" y="355600"/>
                    <a:pt x="355600" y="275996"/>
                    <a:pt x="355600" y="177800"/>
                  </a:cubicBezTo>
                  <a:cubicBezTo>
                    <a:pt x="355600" y="79604"/>
                    <a:pt x="275996" y="0"/>
                    <a:pt x="177800" y="0"/>
                  </a:cubicBezTo>
                  <a:close/>
                </a:path>
              </a:pathLst>
            </a:custGeom>
            <a:solidFill>
              <a:srgbClr val="A986CC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355600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099"/>
                </a:lnSpc>
              </a:pP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785812" y="8071045"/>
            <a:ext cx="266700" cy="34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2"/>
              </a:lnSpc>
            </a:pPr>
            <a:r>
              <a:rPr lang="en-US" sz="2065">
                <a:solidFill>
                  <a:srgbClr val="4D3C6C"/>
                </a:solidFill>
                <a:latin typeface="Bree Serif"/>
                <a:ea typeface="Bree Serif"/>
                <a:cs typeface="Bree Serif"/>
                <a:sym typeface="Bree Serif"/>
              </a:rPr>
              <a:t>7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147762" y="8100559"/>
            <a:ext cx="5019675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Filtro por gratuidad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6453187" y="8133896"/>
            <a:ext cx="266700" cy="266700"/>
            <a:chOff x="0" y="0"/>
            <a:chExt cx="355600" cy="3556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55600" cy="355600"/>
            </a:xfrm>
            <a:custGeom>
              <a:avLst/>
              <a:gdLst/>
              <a:ahLst/>
              <a:cxnLst/>
              <a:rect r="r" b="b" t="t" l="l"/>
              <a:pathLst>
                <a:path h="355600" w="355600">
                  <a:moveTo>
                    <a:pt x="177800" y="0"/>
                  </a:moveTo>
                  <a:cubicBezTo>
                    <a:pt x="79604" y="0"/>
                    <a:pt x="0" y="79604"/>
                    <a:pt x="0" y="177800"/>
                  </a:cubicBezTo>
                  <a:cubicBezTo>
                    <a:pt x="0" y="275996"/>
                    <a:pt x="79604" y="355600"/>
                    <a:pt x="177800" y="355600"/>
                  </a:cubicBezTo>
                  <a:cubicBezTo>
                    <a:pt x="275996" y="355600"/>
                    <a:pt x="355600" y="275996"/>
                    <a:pt x="355600" y="177800"/>
                  </a:cubicBezTo>
                  <a:cubicBezTo>
                    <a:pt x="355600" y="79604"/>
                    <a:pt x="275996" y="0"/>
                    <a:pt x="177800" y="0"/>
                  </a:cubicBezTo>
                  <a:close/>
                </a:path>
              </a:pathLst>
            </a:custGeom>
            <a:solidFill>
              <a:srgbClr val="A986CC"/>
            </a:solid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38100"/>
              <a:ext cx="355600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099"/>
                </a:lnSpc>
              </a:pP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6453187" y="8071045"/>
            <a:ext cx="266700" cy="34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2"/>
              </a:lnSpc>
            </a:pPr>
            <a:r>
              <a:rPr lang="en-US" sz="2065">
                <a:solidFill>
                  <a:srgbClr val="4D3C6C"/>
                </a:solidFill>
                <a:latin typeface="Bree Serif"/>
                <a:ea typeface="Bree Serif"/>
                <a:cs typeface="Bree Serif"/>
                <a:sym typeface="Bree Serif"/>
              </a:rPr>
              <a:t>8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6815137" y="8100559"/>
            <a:ext cx="5210175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Visualización de atractivos en el mapa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12120562" y="8133896"/>
            <a:ext cx="266700" cy="266700"/>
            <a:chOff x="0" y="0"/>
            <a:chExt cx="355600" cy="3556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355600" cy="355600"/>
            </a:xfrm>
            <a:custGeom>
              <a:avLst/>
              <a:gdLst/>
              <a:ahLst/>
              <a:cxnLst/>
              <a:rect r="r" b="b" t="t" l="l"/>
              <a:pathLst>
                <a:path h="355600" w="355600">
                  <a:moveTo>
                    <a:pt x="177800" y="0"/>
                  </a:moveTo>
                  <a:cubicBezTo>
                    <a:pt x="79604" y="0"/>
                    <a:pt x="0" y="79604"/>
                    <a:pt x="0" y="177800"/>
                  </a:cubicBezTo>
                  <a:cubicBezTo>
                    <a:pt x="0" y="275996"/>
                    <a:pt x="79604" y="355600"/>
                    <a:pt x="177800" y="355600"/>
                  </a:cubicBezTo>
                  <a:cubicBezTo>
                    <a:pt x="275996" y="355600"/>
                    <a:pt x="355600" y="275996"/>
                    <a:pt x="355600" y="177800"/>
                  </a:cubicBezTo>
                  <a:cubicBezTo>
                    <a:pt x="355600" y="79604"/>
                    <a:pt x="275996" y="0"/>
                    <a:pt x="177800" y="0"/>
                  </a:cubicBezTo>
                  <a:close/>
                </a:path>
              </a:pathLst>
            </a:custGeom>
            <a:solidFill>
              <a:srgbClr val="A986CC"/>
            </a:solid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355600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099"/>
                </a:lnSpc>
              </a:pPr>
            </a:p>
          </p:txBody>
        </p:sp>
      </p:grpSp>
      <p:sp>
        <p:nvSpPr>
          <p:cNvPr name="TextBox 56" id="56"/>
          <p:cNvSpPr txBox="true"/>
          <p:nvPr/>
        </p:nvSpPr>
        <p:spPr>
          <a:xfrm rot="0">
            <a:off x="12120562" y="8071045"/>
            <a:ext cx="266700" cy="34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2"/>
              </a:lnSpc>
            </a:pPr>
            <a:r>
              <a:rPr lang="en-US" sz="2065">
                <a:solidFill>
                  <a:srgbClr val="4D3C6C"/>
                </a:solidFill>
                <a:latin typeface="Bree Serif"/>
                <a:ea typeface="Bree Serif"/>
                <a:cs typeface="Bree Serif"/>
                <a:sym typeface="Bree Serif"/>
              </a:rPr>
              <a:t>9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12482512" y="8100559"/>
            <a:ext cx="5019675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Filtro de atractivos en el mapa</a:t>
            </a:r>
          </a:p>
        </p:txBody>
      </p:sp>
      <p:grpSp>
        <p:nvGrpSpPr>
          <p:cNvPr name="Group 58" id="58"/>
          <p:cNvGrpSpPr/>
          <p:nvPr/>
        </p:nvGrpSpPr>
        <p:grpSpPr>
          <a:xfrm rot="0">
            <a:off x="785812" y="8629196"/>
            <a:ext cx="266700" cy="266700"/>
            <a:chOff x="0" y="0"/>
            <a:chExt cx="355600" cy="3556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355600" cy="355600"/>
            </a:xfrm>
            <a:custGeom>
              <a:avLst/>
              <a:gdLst/>
              <a:ahLst/>
              <a:cxnLst/>
              <a:rect r="r" b="b" t="t" l="l"/>
              <a:pathLst>
                <a:path h="355600" w="355600">
                  <a:moveTo>
                    <a:pt x="177800" y="0"/>
                  </a:moveTo>
                  <a:cubicBezTo>
                    <a:pt x="79604" y="0"/>
                    <a:pt x="0" y="79604"/>
                    <a:pt x="0" y="177800"/>
                  </a:cubicBezTo>
                  <a:cubicBezTo>
                    <a:pt x="0" y="275996"/>
                    <a:pt x="79604" y="355600"/>
                    <a:pt x="177800" y="355600"/>
                  </a:cubicBezTo>
                  <a:cubicBezTo>
                    <a:pt x="275996" y="355600"/>
                    <a:pt x="355600" y="275996"/>
                    <a:pt x="355600" y="177800"/>
                  </a:cubicBezTo>
                  <a:cubicBezTo>
                    <a:pt x="355600" y="79604"/>
                    <a:pt x="275996" y="0"/>
                    <a:pt x="177800" y="0"/>
                  </a:cubicBezTo>
                  <a:close/>
                </a:path>
              </a:pathLst>
            </a:custGeom>
            <a:solidFill>
              <a:srgbClr val="A986CC"/>
            </a:solid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38100"/>
              <a:ext cx="355600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099"/>
                </a:lnSpc>
              </a:pPr>
            </a:p>
          </p:txBody>
        </p:sp>
      </p:grpSp>
      <p:sp>
        <p:nvSpPr>
          <p:cNvPr name="TextBox 61" id="61"/>
          <p:cNvSpPr txBox="true"/>
          <p:nvPr/>
        </p:nvSpPr>
        <p:spPr>
          <a:xfrm rot="0">
            <a:off x="785812" y="8566345"/>
            <a:ext cx="266700" cy="34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2"/>
              </a:lnSpc>
            </a:pPr>
            <a:r>
              <a:rPr lang="en-US" sz="2065">
                <a:solidFill>
                  <a:srgbClr val="4D3C6C"/>
                </a:solidFill>
                <a:latin typeface="Bree Serif"/>
                <a:ea typeface="Bree Serif"/>
                <a:cs typeface="Bree Serif"/>
                <a:sym typeface="Bree Serif"/>
              </a:rPr>
              <a:t>10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1147762" y="8595859"/>
            <a:ext cx="5019675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Inicio de sesión como administrador</a:t>
            </a:r>
          </a:p>
        </p:txBody>
      </p:sp>
      <p:grpSp>
        <p:nvGrpSpPr>
          <p:cNvPr name="Group 63" id="63"/>
          <p:cNvGrpSpPr/>
          <p:nvPr/>
        </p:nvGrpSpPr>
        <p:grpSpPr>
          <a:xfrm rot="0">
            <a:off x="6453187" y="8629196"/>
            <a:ext cx="266700" cy="266700"/>
            <a:chOff x="0" y="0"/>
            <a:chExt cx="355600" cy="3556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55600" cy="355600"/>
            </a:xfrm>
            <a:custGeom>
              <a:avLst/>
              <a:gdLst/>
              <a:ahLst/>
              <a:cxnLst/>
              <a:rect r="r" b="b" t="t" l="l"/>
              <a:pathLst>
                <a:path h="355600" w="355600">
                  <a:moveTo>
                    <a:pt x="177800" y="0"/>
                  </a:moveTo>
                  <a:cubicBezTo>
                    <a:pt x="79604" y="0"/>
                    <a:pt x="0" y="79604"/>
                    <a:pt x="0" y="177800"/>
                  </a:cubicBezTo>
                  <a:cubicBezTo>
                    <a:pt x="0" y="275996"/>
                    <a:pt x="79604" y="355600"/>
                    <a:pt x="177800" y="355600"/>
                  </a:cubicBezTo>
                  <a:cubicBezTo>
                    <a:pt x="275996" y="355600"/>
                    <a:pt x="355600" y="275996"/>
                    <a:pt x="355600" y="177800"/>
                  </a:cubicBezTo>
                  <a:cubicBezTo>
                    <a:pt x="355600" y="79604"/>
                    <a:pt x="275996" y="0"/>
                    <a:pt x="177800" y="0"/>
                  </a:cubicBezTo>
                  <a:close/>
                </a:path>
              </a:pathLst>
            </a:custGeom>
            <a:solidFill>
              <a:srgbClr val="A986CC"/>
            </a:solidFill>
          </p:spPr>
        </p:sp>
        <p:sp>
          <p:nvSpPr>
            <p:cNvPr name="TextBox 65" id="65"/>
            <p:cNvSpPr txBox="true"/>
            <p:nvPr/>
          </p:nvSpPr>
          <p:spPr>
            <a:xfrm>
              <a:off x="0" y="-38100"/>
              <a:ext cx="355600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099"/>
                </a:lnSpc>
              </a:pPr>
            </a:p>
          </p:txBody>
        </p:sp>
      </p:grpSp>
      <p:sp>
        <p:nvSpPr>
          <p:cNvPr name="TextBox 66" id="66"/>
          <p:cNvSpPr txBox="true"/>
          <p:nvPr/>
        </p:nvSpPr>
        <p:spPr>
          <a:xfrm rot="0">
            <a:off x="6453187" y="8566345"/>
            <a:ext cx="266700" cy="34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2"/>
              </a:lnSpc>
            </a:pPr>
            <a:r>
              <a:rPr lang="en-US" sz="2065">
                <a:solidFill>
                  <a:srgbClr val="4D3C6C"/>
                </a:solidFill>
                <a:latin typeface="Bree Serif"/>
                <a:ea typeface="Bree Serif"/>
                <a:cs typeface="Bree Serif"/>
                <a:sym typeface="Bree Serif"/>
              </a:rPr>
              <a:t>11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6815137" y="8595859"/>
            <a:ext cx="5019675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CRUD de lugares turísticos</a:t>
            </a:r>
          </a:p>
        </p:txBody>
      </p:sp>
      <p:grpSp>
        <p:nvGrpSpPr>
          <p:cNvPr name="Group 68" id="68"/>
          <p:cNvGrpSpPr/>
          <p:nvPr/>
        </p:nvGrpSpPr>
        <p:grpSpPr>
          <a:xfrm rot="0">
            <a:off x="12120562" y="8629196"/>
            <a:ext cx="266700" cy="266700"/>
            <a:chOff x="0" y="0"/>
            <a:chExt cx="355600" cy="3556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355600" cy="355600"/>
            </a:xfrm>
            <a:custGeom>
              <a:avLst/>
              <a:gdLst/>
              <a:ahLst/>
              <a:cxnLst/>
              <a:rect r="r" b="b" t="t" l="l"/>
              <a:pathLst>
                <a:path h="355600" w="355600">
                  <a:moveTo>
                    <a:pt x="177800" y="0"/>
                  </a:moveTo>
                  <a:cubicBezTo>
                    <a:pt x="79604" y="0"/>
                    <a:pt x="0" y="79604"/>
                    <a:pt x="0" y="177800"/>
                  </a:cubicBezTo>
                  <a:cubicBezTo>
                    <a:pt x="0" y="275996"/>
                    <a:pt x="79604" y="355600"/>
                    <a:pt x="177800" y="355600"/>
                  </a:cubicBezTo>
                  <a:cubicBezTo>
                    <a:pt x="275996" y="355600"/>
                    <a:pt x="355600" y="275996"/>
                    <a:pt x="355600" y="177800"/>
                  </a:cubicBezTo>
                  <a:cubicBezTo>
                    <a:pt x="355600" y="79604"/>
                    <a:pt x="275996" y="0"/>
                    <a:pt x="177800" y="0"/>
                  </a:cubicBezTo>
                  <a:close/>
                </a:path>
              </a:pathLst>
            </a:custGeom>
            <a:solidFill>
              <a:srgbClr val="A986CC"/>
            </a:solid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355600" cy="393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2099"/>
                </a:lnSpc>
              </a:pPr>
            </a:p>
          </p:txBody>
        </p:sp>
      </p:grpSp>
      <p:sp>
        <p:nvSpPr>
          <p:cNvPr name="TextBox 71" id="71"/>
          <p:cNvSpPr txBox="true"/>
          <p:nvPr/>
        </p:nvSpPr>
        <p:spPr>
          <a:xfrm rot="0">
            <a:off x="12120562" y="8566345"/>
            <a:ext cx="266700" cy="347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2"/>
              </a:lnSpc>
            </a:pPr>
            <a:r>
              <a:rPr lang="en-US" sz="2065">
                <a:solidFill>
                  <a:srgbClr val="4D3C6C"/>
                </a:solidFill>
                <a:latin typeface="Bree Serif"/>
                <a:ea typeface="Bree Serif"/>
                <a:cs typeface="Bree Serif"/>
                <a:sym typeface="Bree Serif"/>
              </a:rPr>
              <a:t>12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2482512" y="8595859"/>
            <a:ext cx="5019675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</a:t>
            </a:r>
            <a:r>
              <a:rPr lang="en-US" sz="21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arga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D3C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062231" y="-903447"/>
            <a:ext cx="6426280" cy="3364040"/>
            <a:chOff x="0" y="0"/>
            <a:chExt cx="8568373" cy="4485387"/>
          </a:xfrm>
        </p:grpSpPr>
        <p:sp>
          <p:nvSpPr>
            <p:cNvPr name="Freeform 3" id="3"/>
            <p:cNvSpPr/>
            <p:nvPr/>
          </p:nvSpPr>
          <p:spPr>
            <a:xfrm flipH="false" flipV="true" rot="0">
              <a:off x="0" y="1101535"/>
              <a:ext cx="7625583" cy="3383852"/>
            </a:xfrm>
            <a:custGeom>
              <a:avLst/>
              <a:gdLst/>
              <a:ahLst/>
              <a:cxnLst/>
              <a:rect r="r" b="b" t="t" l="l"/>
              <a:pathLst>
                <a:path h="3383852" w="7625583">
                  <a:moveTo>
                    <a:pt x="0" y="3383852"/>
                  </a:moveTo>
                  <a:lnTo>
                    <a:pt x="7625583" y="3383852"/>
                  </a:lnTo>
                  <a:lnTo>
                    <a:pt x="7625583" y="0"/>
                  </a:lnTo>
                  <a:lnTo>
                    <a:pt x="0" y="0"/>
                  </a:lnTo>
                  <a:lnTo>
                    <a:pt x="0" y="3383852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true" rot="0">
              <a:off x="942790" y="0"/>
              <a:ext cx="7625583" cy="3383852"/>
            </a:xfrm>
            <a:custGeom>
              <a:avLst/>
              <a:gdLst/>
              <a:ahLst/>
              <a:cxnLst/>
              <a:rect r="r" b="b" t="t" l="l"/>
              <a:pathLst>
                <a:path h="3383852" w="7625583">
                  <a:moveTo>
                    <a:pt x="0" y="3383852"/>
                  </a:moveTo>
                  <a:lnTo>
                    <a:pt x="7625583" y="3383852"/>
                  </a:lnTo>
                  <a:lnTo>
                    <a:pt x="7625583" y="0"/>
                  </a:lnTo>
                  <a:lnTo>
                    <a:pt x="0" y="0"/>
                  </a:lnTo>
                  <a:lnTo>
                    <a:pt x="0" y="3383852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718349" y="3134619"/>
            <a:ext cx="5465416" cy="4511285"/>
            <a:chOff x="0" y="0"/>
            <a:chExt cx="2172214" cy="179299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72214" cy="1792997"/>
            </a:xfrm>
            <a:custGeom>
              <a:avLst/>
              <a:gdLst/>
              <a:ahLst/>
              <a:cxnLst/>
              <a:rect r="r" b="b" t="t" l="l"/>
              <a:pathLst>
                <a:path h="1792997" w="2172214">
                  <a:moveTo>
                    <a:pt x="32580" y="0"/>
                  </a:moveTo>
                  <a:lnTo>
                    <a:pt x="2139634" y="0"/>
                  </a:lnTo>
                  <a:cubicBezTo>
                    <a:pt x="2148274" y="0"/>
                    <a:pt x="2156561" y="3433"/>
                    <a:pt x="2162671" y="9543"/>
                  </a:cubicBezTo>
                  <a:cubicBezTo>
                    <a:pt x="2168781" y="15652"/>
                    <a:pt x="2172214" y="23939"/>
                    <a:pt x="2172214" y="32580"/>
                  </a:cubicBezTo>
                  <a:lnTo>
                    <a:pt x="2172214" y="1760417"/>
                  </a:lnTo>
                  <a:cubicBezTo>
                    <a:pt x="2172214" y="1769058"/>
                    <a:pt x="2168781" y="1777344"/>
                    <a:pt x="2162671" y="1783455"/>
                  </a:cubicBezTo>
                  <a:cubicBezTo>
                    <a:pt x="2156561" y="1789564"/>
                    <a:pt x="2148274" y="1792997"/>
                    <a:pt x="2139634" y="1792997"/>
                  </a:cubicBezTo>
                  <a:lnTo>
                    <a:pt x="32580" y="1792997"/>
                  </a:lnTo>
                  <a:cubicBezTo>
                    <a:pt x="23939" y="1792997"/>
                    <a:pt x="15652" y="1789564"/>
                    <a:pt x="9543" y="1783455"/>
                  </a:cubicBezTo>
                  <a:cubicBezTo>
                    <a:pt x="3433" y="1777344"/>
                    <a:pt x="0" y="1769058"/>
                    <a:pt x="0" y="1760417"/>
                  </a:cubicBezTo>
                  <a:lnTo>
                    <a:pt x="0" y="32580"/>
                  </a:lnTo>
                  <a:cubicBezTo>
                    <a:pt x="0" y="23939"/>
                    <a:pt x="3433" y="15652"/>
                    <a:pt x="9543" y="9543"/>
                  </a:cubicBezTo>
                  <a:cubicBezTo>
                    <a:pt x="15652" y="3433"/>
                    <a:pt x="23939" y="0"/>
                    <a:pt x="32580" y="0"/>
                  </a:cubicBezTo>
                  <a:close/>
                </a:path>
              </a:pathLst>
            </a:custGeom>
            <a:solidFill>
              <a:srgbClr val="7E6597"/>
            </a:solidFill>
            <a:ln cap="rnd">
              <a:noFill/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172214" cy="18501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just">
                <a:lnSpc>
                  <a:spcPts val="37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191074" y="3134619"/>
            <a:ext cx="5465416" cy="4511285"/>
            <a:chOff x="0" y="0"/>
            <a:chExt cx="2172214" cy="17929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72214" cy="1792997"/>
            </a:xfrm>
            <a:custGeom>
              <a:avLst/>
              <a:gdLst/>
              <a:ahLst/>
              <a:cxnLst/>
              <a:rect r="r" b="b" t="t" l="l"/>
              <a:pathLst>
                <a:path h="1792997" w="2172214">
                  <a:moveTo>
                    <a:pt x="32580" y="0"/>
                  </a:moveTo>
                  <a:lnTo>
                    <a:pt x="2139634" y="0"/>
                  </a:lnTo>
                  <a:cubicBezTo>
                    <a:pt x="2148274" y="0"/>
                    <a:pt x="2156561" y="3433"/>
                    <a:pt x="2162671" y="9543"/>
                  </a:cubicBezTo>
                  <a:cubicBezTo>
                    <a:pt x="2168781" y="15652"/>
                    <a:pt x="2172214" y="23939"/>
                    <a:pt x="2172214" y="32580"/>
                  </a:cubicBezTo>
                  <a:lnTo>
                    <a:pt x="2172214" y="1760417"/>
                  </a:lnTo>
                  <a:cubicBezTo>
                    <a:pt x="2172214" y="1769058"/>
                    <a:pt x="2168781" y="1777344"/>
                    <a:pt x="2162671" y="1783455"/>
                  </a:cubicBezTo>
                  <a:cubicBezTo>
                    <a:pt x="2156561" y="1789564"/>
                    <a:pt x="2148274" y="1792997"/>
                    <a:pt x="2139634" y="1792997"/>
                  </a:cubicBezTo>
                  <a:lnTo>
                    <a:pt x="32580" y="1792997"/>
                  </a:lnTo>
                  <a:cubicBezTo>
                    <a:pt x="23939" y="1792997"/>
                    <a:pt x="15652" y="1789564"/>
                    <a:pt x="9543" y="1783455"/>
                  </a:cubicBezTo>
                  <a:cubicBezTo>
                    <a:pt x="3433" y="1777344"/>
                    <a:pt x="0" y="1769058"/>
                    <a:pt x="0" y="1760417"/>
                  </a:cubicBezTo>
                  <a:lnTo>
                    <a:pt x="0" y="32580"/>
                  </a:lnTo>
                  <a:cubicBezTo>
                    <a:pt x="0" y="23939"/>
                    <a:pt x="3433" y="15652"/>
                    <a:pt x="9543" y="9543"/>
                  </a:cubicBezTo>
                  <a:cubicBezTo>
                    <a:pt x="15652" y="3433"/>
                    <a:pt x="23939" y="0"/>
                    <a:pt x="32580" y="0"/>
                  </a:cubicBezTo>
                  <a:close/>
                </a:path>
              </a:pathLst>
            </a:custGeom>
            <a:solidFill>
              <a:srgbClr val="7E6597"/>
            </a:solidFill>
            <a:ln cap="rnd">
              <a:noFill/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2172214" cy="18501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just">
                <a:lnSpc>
                  <a:spcPts val="37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411292" y="3134619"/>
            <a:ext cx="5465416" cy="4511285"/>
            <a:chOff x="0" y="0"/>
            <a:chExt cx="2172214" cy="179299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72214" cy="1792997"/>
            </a:xfrm>
            <a:custGeom>
              <a:avLst/>
              <a:gdLst/>
              <a:ahLst/>
              <a:cxnLst/>
              <a:rect r="r" b="b" t="t" l="l"/>
              <a:pathLst>
                <a:path h="1792997" w="2172214">
                  <a:moveTo>
                    <a:pt x="32580" y="0"/>
                  </a:moveTo>
                  <a:lnTo>
                    <a:pt x="2139634" y="0"/>
                  </a:lnTo>
                  <a:cubicBezTo>
                    <a:pt x="2148274" y="0"/>
                    <a:pt x="2156561" y="3433"/>
                    <a:pt x="2162671" y="9543"/>
                  </a:cubicBezTo>
                  <a:cubicBezTo>
                    <a:pt x="2168781" y="15652"/>
                    <a:pt x="2172214" y="23939"/>
                    <a:pt x="2172214" y="32580"/>
                  </a:cubicBezTo>
                  <a:lnTo>
                    <a:pt x="2172214" y="1760417"/>
                  </a:lnTo>
                  <a:cubicBezTo>
                    <a:pt x="2172214" y="1769058"/>
                    <a:pt x="2168781" y="1777344"/>
                    <a:pt x="2162671" y="1783455"/>
                  </a:cubicBezTo>
                  <a:cubicBezTo>
                    <a:pt x="2156561" y="1789564"/>
                    <a:pt x="2148274" y="1792997"/>
                    <a:pt x="2139634" y="1792997"/>
                  </a:cubicBezTo>
                  <a:lnTo>
                    <a:pt x="32580" y="1792997"/>
                  </a:lnTo>
                  <a:cubicBezTo>
                    <a:pt x="23939" y="1792997"/>
                    <a:pt x="15652" y="1789564"/>
                    <a:pt x="9543" y="1783455"/>
                  </a:cubicBezTo>
                  <a:cubicBezTo>
                    <a:pt x="3433" y="1777344"/>
                    <a:pt x="0" y="1769058"/>
                    <a:pt x="0" y="1760417"/>
                  </a:cubicBezTo>
                  <a:lnTo>
                    <a:pt x="0" y="32580"/>
                  </a:lnTo>
                  <a:cubicBezTo>
                    <a:pt x="0" y="23939"/>
                    <a:pt x="3433" y="15652"/>
                    <a:pt x="9543" y="9543"/>
                  </a:cubicBezTo>
                  <a:cubicBezTo>
                    <a:pt x="15652" y="3433"/>
                    <a:pt x="23939" y="0"/>
                    <a:pt x="32580" y="0"/>
                  </a:cubicBezTo>
                  <a:close/>
                </a:path>
              </a:pathLst>
            </a:custGeom>
            <a:solidFill>
              <a:srgbClr val="7E6597"/>
            </a:solidFill>
            <a:ln cap="rnd">
              <a:noFill/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57150"/>
              <a:ext cx="2172214" cy="18501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779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8182915" y="6909095"/>
            <a:ext cx="2102538" cy="2349205"/>
          </a:xfrm>
          <a:custGeom>
            <a:avLst/>
            <a:gdLst/>
            <a:ahLst/>
            <a:cxnLst/>
            <a:rect r="r" b="b" t="t" l="l"/>
            <a:pathLst>
              <a:path h="2349205" w="2102538">
                <a:moveTo>
                  <a:pt x="0" y="0"/>
                </a:moveTo>
                <a:lnTo>
                  <a:pt x="2102539" y="0"/>
                </a:lnTo>
                <a:lnTo>
                  <a:pt x="2102539" y="2349205"/>
                </a:lnTo>
                <a:lnTo>
                  <a:pt x="0" y="234920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4127156" y="6862434"/>
            <a:ext cx="1593251" cy="2395866"/>
          </a:xfrm>
          <a:custGeom>
            <a:avLst/>
            <a:gdLst/>
            <a:ahLst/>
            <a:cxnLst/>
            <a:rect r="r" b="b" t="t" l="l"/>
            <a:pathLst>
              <a:path h="2395866" w="1593251">
                <a:moveTo>
                  <a:pt x="0" y="0"/>
                </a:moveTo>
                <a:lnTo>
                  <a:pt x="1593251" y="0"/>
                </a:lnTo>
                <a:lnTo>
                  <a:pt x="1593251" y="2395866"/>
                </a:lnTo>
                <a:lnTo>
                  <a:pt x="0" y="23958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6549874" y="3224276"/>
            <a:ext cx="5188253" cy="427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779"/>
              </a:lnSpc>
              <a:spcBef>
                <a:spcPct val="0"/>
              </a:spcBef>
            </a:pPr>
            <a:r>
              <a:rPr lang="en-US" sz="27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</a:t>
            </a:r>
            <a:r>
              <a:rPr lang="en-US" sz="2700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lidar la utilidad de CultureGo mediante pruebas de usabilidad con ≥3 usuarios reales (semanas 16-17), midiendo % de tareas completadas y retroalimentación.</a:t>
            </a:r>
          </a:p>
          <a:p>
            <a:pPr algn="just" marL="0" indent="0" lvl="0">
              <a:lnSpc>
                <a:spcPts val="3779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3779"/>
              </a:lnSpc>
              <a:spcBef>
                <a:spcPct val="0"/>
              </a:spcBef>
            </a:pP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2334885" y="6881484"/>
            <a:ext cx="2232345" cy="2453127"/>
          </a:xfrm>
          <a:custGeom>
            <a:avLst/>
            <a:gdLst/>
            <a:ahLst/>
            <a:cxnLst/>
            <a:rect r="r" b="b" t="t" l="l"/>
            <a:pathLst>
              <a:path h="2453127" w="2232345">
                <a:moveTo>
                  <a:pt x="0" y="0"/>
                </a:moveTo>
                <a:lnTo>
                  <a:pt x="2232345" y="0"/>
                </a:lnTo>
                <a:lnTo>
                  <a:pt x="2232345" y="2453127"/>
                </a:lnTo>
                <a:lnTo>
                  <a:pt x="0" y="245312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856061" y="3224276"/>
            <a:ext cx="5189993" cy="4751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779"/>
              </a:lnSpc>
              <a:spcBef>
                <a:spcPct val="0"/>
              </a:spcBef>
            </a:pPr>
            <a:r>
              <a:rPr lang="en-US" sz="27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Imp</a:t>
            </a:r>
            <a:r>
              <a:rPr lang="en-US" sz="2700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lementar un catálogo de atractivos culturales filtrable por categoría, comuna y gratuidad, con al menos 20 lugares poco conocidos, funcional al finalizar </a:t>
            </a:r>
            <a:r>
              <a:rPr lang="en-US" sz="2700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</a:t>
            </a:r>
            <a:r>
              <a:rPr lang="en-US" sz="2700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 desarrollo frontend (semana 10).</a:t>
            </a:r>
          </a:p>
          <a:p>
            <a:pPr algn="just">
              <a:lnSpc>
                <a:spcPts val="3779"/>
              </a:lnSpc>
              <a:spcBef>
                <a:spcPct val="0"/>
              </a:spcBef>
            </a:pPr>
          </a:p>
          <a:p>
            <a:pPr algn="just">
              <a:lnSpc>
                <a:spcPts val="3779"/>
              </a:lnSpc>
              <a:spcBef>
                <a:spcPct val="0"/>
              </a:spcBef>
            </a:pPr>
          </a:p>
        </p:txBody>
      </p:sp>
      <p:sp>
        <p:nvSpPr>
          <p:cNvPr name="TextBox 19" id="19"/>
          <p:cNvSpPr txBox="true"/>
          <p:nvPr/>
        </p:nvSpPr>
        <p:spPr>
          <a:xfrm rot="0">
            <a:off x="12463031" y="3224276"/>
            <a:ext cx="4921501" cy="3798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779"/>
              </a:lnSpc>
              <a:spcBef>
                <a:spcPct val="0"/>
              </a:spcBef>
            </a:pPr>
            <a:r>
              <a:rPr lang="en-US" sz="27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Imp</a:t>
            </a:r>
            <a:r>
              <a:rPr lang="en-US" sz="2700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lementar un mapa con geolocalización (Leaflet/MapLibre + PostGIS), logrando que ≥90% de los lugares ten</a:t>
            </a:r>
            <a:r>
              <a:rPr lang="en-US" sz="2700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ga</a:t>
            </a:r>
            <a:r>
              <a:rPr lang="en-US" sz="2700" strike="noStrike" u="none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 coordenadas visibles antes de las pruebas (semana 16).</a:t>
            </a:r>
          </a:p>
          <a:p>
            <a:pPr algn="just" marL="0" indent="0" lvl="0">
              <a:lnSpc>
                <a:spcPts val="3779"/>
              </a:lnSpc>
              <a:spcBef>
                <a:spcPct val="0"/>
              </a:spcBef>
            </a:pPr>
          </a:p>
        </p:txBody>
      </p:sp>
      <p:sp>
        <p:nvSpPr>
          <p:cNvPr name="TextBox 20" id="20"/>
          <p:cNvSpPr txBox="true"/>
          <p:nvPr/>
        </p:nvSpPr>
        <p:spPr>
          <a:xfrm rot="0">
            <a:off x="718349" y="654655"/>
            <a:ext cx="12995027" cy="1279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499"/>
              </a:lnSpc>
              <a:spcBef>
                <a:spcPct val="0"/>
              </a:spcBef>
            </a:pPr>
            <a:r>
              <a:rPr lang="en-US" sz="9999" strike="noStrike" u="none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Objetivos específicos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72690" y="2393918"/>
            <a:ext cx="4356735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690877" indent="-345439" lvl="1">
              <a:lnSpc>
                <a:spcPts val="4479"/>
              </a:lnSpc>
              <a:buAutoNum type="arabicPeriod" startAt="1"/>
            </a:pPr>
            <a:r>
              <a:rPr lang="en-US" sz="3199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rPr>
              <a:t>Catálogo filtrable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682518" y="2393918"/>
            <a:ext cx="4922964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rPr>
              <a:t>2. V</a:t>
            </a:r>
            <a:r>
              <a:rPr lang="en-US" sz="3200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rPr>
              <a:t>alidación con usuarios 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055601" y="2393918"/>
            <a:ext cx="5736362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690881" indent="-345440" lvl="1">
              <a:lnSpc>
                <a:spcPts val="4480"/>
              </a:lnSpc>
              <a:buAutoNum type="arabicPeriod" startAt="1"/>
            </a:pPr>
            <a:r>
              <a:rPr lang="en-US" sz="3200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rPr>
              <a:t>M</a:t>
            </a:r>
            <a:r>
              <a:rPr lang="en-US" sz="3200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rPr>
              <a:t>apa con geolocalización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D3C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-2514151">
            <a:off x="-1094020" y="-1336466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89"/>
                </a:moveTo>
                <a:lnTo>
                  <a:pt x="5719187" y="2537889"/>
                </a:lnTo>
                <a:lnTo>
                  <a:pt x="5719187" y="0"/>
                </a:lnTo>
                <a:lnTo>
                  <a:pt x="0" y="0"/>
                </a:lnTo>
                <a:lnTo>
                  <a:pt x="0" y="253788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-2514151">
            <a:off x="-787432" y="-58496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89"/>
                </a:moveTo>
                <a:lnTo>
                  <a:pt x="5719187" y="2537889"/>
                </a:lnTo>
                <a:lnTo>
                  <a:pt x="5719187" y="0"/>
                </a:lnTo>
                <a:lnTo>
                  <a:pt x="0" y="0"/>
                </a:lnTo>
                <a:lnTo>
                  <a:pt x="0" y="253788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04663" y="706867"/>
            <a:ext cx="10485551" cy="1279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499"/>
              </a:lnSpc>
              <a:spcBef>
                <a:spcPct val="0"/>
              </a:spcBef>
            </a:pPr>
            <a:r>
              <a:rPr lang="en-US" sz="9999" strike="noStrike" u="none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Metodología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04663" y="2097281"/>
            <a:ext cx="8219225" cy="120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6"/>
              </a:lnSpc>
            </a:pPr>
            <a:r>
              <a:rPr lang="en-US" sz="4686" spc="-187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Metodología seleccionada: tradicional - cascada</a:t>
            </a:r>
          </a:p>
        </p:txBody>
      </p:sp>
      <p:sp>
        <p:nvSpPr>
          <p:cNvPr name="Freeform 6" id="6"/>
          <p:cNvSpPr/>
          <p:nvPr/>
        </p:nvSpPr>
        <p:spPr>
          <a:xfrm flipH="false" flipV="true" rot="-2514151">
            <a:off x="14056641" y="8225323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-2514151">
            <a:off x="14363229" y="8976824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Object 8" id="8"/>
          <p:cNvGraphicFramePr/>
          <p:nvPr/>
        </p:nvGraphicFramePr>
        <p:xfrm>
          <a:off x="264512" y="3688172"/>
          <a:ext cx="25146000" cy="3771900"/>
        </p:xfrm>
        <a:graphic>
          <a:graphicData uri="http://schemas.openxmlformats.org/presentationml/2006/ole">
            <p:oleObj imgW="30175200" imgH="8801100" r:id="rId5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9" id="9"/>
          <p:cNvSpPr txBox="true"/>
          <p:nvPr/>
        </p:nvSpPr>
        <p:spPr>
          <a:xfrm rot="0">
            <a:off x="9318184" y="636354"/>
            <a:ext cx="8334084" cy="28154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40"/>
              </a:lnSpc>
              <a:spcBef>
                <a:spcPct val="0"/>
              </a:spcBef>
            </a:pPr>
            <a:r>
              <a:rPr lang="en-US" sz="202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 ser un proyecto que no se someterá a muchos cambios y dentro de un tiempo determinado, consideramos que la metodología tradicional en cascada era la más óptima para nuestro caso. El proyecto se ajustará</a:t>
            </a:r>
            <a:r>
              <a:rPr lang="en-US" sz="202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3 fases: </a:t>
            </a:r>
          </a:p>
          <a:p>
            <a:pPr algn="l">
              <a:lnSpc>
                <a:spcPts val="2840"/>
              </a:lnSpc>
              <a:spcBef>
                <a:spcPct val="0"/>
              </a:spcBef>
            </a:pPr>
          </a:p>
          <a:p>
            <a:pPr algn="l" marL="438072" indent="-219036" lvl="1">
              <a:lnSpc>
                <a:spcPts val="2840"/>
              </a:lnSpc>
              <a:buFont typeface="Arial"/>
              <a:buChar char="•"/>
            </a:pPr>
            <a:r>
              <a:rPr lang="en-US" b="true" sz="2029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Fase 1: Planificación </a:t>
            </a:r>
            <a:r>
              <a:rPr lang="en-US" sz="202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- 4 semanas</a:t>
            </a:r>
          </a:p>
          <a:p>
            <a:pPr algn="l" marL="438072" indent="-219036" lvl="1">
              <a:lnSpc>
                <a:spcPts val="2840"/>
              </a:lnSpc>
              <a:buFont typeface="Arial"/>
              <a:buChar char="•"/>
            </a:pPr>
            <a:r>
              <a:rPr lang="en-US" b="true" sz="2029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Fase 2: Desarrollo </a:t>
            </a:r>
            <a:r>
              <a:rPr lang="en-US" sz="202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- 12 semanas</a:t>
            </a:r>
          </a:p>
          <a:p>
            <a:pPr algn="l" marL="438072" indent="-219036" lvl="1">
              <a:lnSpc>
                <a:spcPts val="2840"/>
              </a:lnSpc>
              <a:buFont typeface="Arial"/>
              <a:buChar char="•"/>
            </a:pPr>
            <a:r>
              <a:rPr lang="en-US" b="true" sz="2029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Fase 3: Pruebas y despliegue</a:t>
            </a:r>
            <a:r>
              <a:rPr lang="en-US" sz="202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- 2 semanas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86439" y="3335811"/>
            <a:ext cx="1472968" cy="291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67"/>
              </a:lnSpc>
            </a:pPr>
            <a:r>
              <a:rPr lang="en-US" sz="1762" i="true">
                <a:solidFill>
                  <a:srgbClr val="FFFFFF"/>
                </a:solidFill>
                <a:latin typeface="Canva Sans Italics"/>
                <a:ea typeface="Canva Sans Italics"/>
                <a:cs typeface="Canva Sans Italics"/>
                <a:sym typeface="Canva Sans Italics"/>
              </a:rPr>
              <a:t>Carta Gantt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152501" y="889000"/>
            <a:ext cx="13982998" cy="1279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499"/>
              </a:lnSpc>
              <a:spcBef>
                <a:spcPct val="0"/>
              </a:spcBef>
            </a:pPr>
            <a:r>
              <a:rPr lang="en-US" sz="9999" strike="noStrike" u="none">
                <a:solidFill>
                  <a:srgbClr val="7A5EA8"/>
                </a:solidFill>
                <a:latin typeface="Luducudu"/>
                <a:ea typeface="Luducudu"/>
                <a:cs typeface="Luducudu"/>
                <a:sym typeface="Luducudu"/>
              </a:rPr>
              <a:t>Herramientas de trabajo</a:t>
            </a:r>
          </a:p>
        </p:txBody>
      </p:sp>
      <p:sp>
        <p:nvSpPr>
          <p:cNvPr name="Freeform 3" id="3"/>
          <p:cNvSpPr/>
          <p:nvPr/>
        </p:nvSpPr>
        <p:spPr>
          <a:xfrm flipH="false" flipV="true" rot="0">
            <a:off x="13114601" y="-36936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89"/>
                </a:moveTo>
                <a:lnTo>
                  <a:pt x="5719187" y="2537889"/>
                </a:lnTo>
                <a:lnTo>
                  <a:pt x="5719187" y="0"/>
                </a:lnTo>
                <a:lnTo>
                  <a:pt x="0" y="0"/>
                </a:lnTo>
                <a:lnTo>
                  <a:pt x="0" y="253788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406895" y="-1000901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89"/>
                </a:moveTo>
                <a:lnTo>
                  <a:pt x="5719187" y="2537889"/>
                </a:lnTo>
                <a:lnTo>
                  <a:pt x="5719187" y="0"/>
                </a:lnTo>
                <a:lnTo>
                  <a:pt x="0" y="0"/>
                </a:lnTo>
                <a:lnTo>
                  <a:pt x="0" y="253788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-1355938" y="8404317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89"/>
                </a:moveTo>
                <a:lnTo>
                  <a:pt x="5719187" y="2537889"/>
                </a:lnTo>
                <a:lnTo>
                  <a:pt x="5719187" y="0"/>
                </a:lnTo>
                <a:lnTo>
                  <a:pt x="0" y="0"/>
                </a:lnTo>
                <a:lnTo>
                  <a:pt x="0" y="253788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1750203" y="9008877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89"/>
                </a:moveTo>
                <a:lnTo>
                  <a:pt x="5719187" y="2537889"/>
                </a:lnTo>
                <a:lnTo>
                  <a:pt x="5719187" y="0"/>
                </a:lnTo>
                <a:lnTo>
                  <a:pt x="0" y="0"/>
                </a:lnTo>
                <a:lnTo>
                  <a:pt x="0" y="253788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8855795">
            <a:off x="-1664865" y="-1105742"/>
            <a:ext cx="3329730" cy="4268884"/>
          </a:xfrm>
          <a:custGeom>
            <a:avLst/>
            <a:gdLst/>
            <a:ahLst/>
            <a:cxnLst/>
            <a:rect r="r" b="b" t="t" l="l"/>
            <a:pathLst>
              <a:path h="4268884" w="3329730">
                <a:moveTo>
                  <a:pt x="0" y="0"/>
                </a:moveTo>
                <a:lnTo>
                  <a:pt x="3329730" y="0"/>
                </a:lnTo>
                <a:lnTo>
                  <a:pt x="3329730" y="4268884"/>
                </a:lnTo>
                <a:lnTo>
                  <a:pt x="0" y="426888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463759" y="3683406"/>
            <a:ext cx="3653977" cy="5989856"/>
            <a:chOff x="0" y="0"/>
            <a:chExt cx="1452263" cy="238065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52263" cy="2380651"/>
            </a:xfrm>
            <a:custGeom>
              <a:avLst/>
              <a:gdLst/>
              <a:ahLst/>
              <a:cxnLst/>
              <a:rect r="r" b="b" t="t" l="l"/>
              <a:pathLst>
                <a:path h="2380651" w="1452263">
                  <a:moveTo>
                    <a:pt x="48732" y="0"/>
                  </a:moveTo>
                  <a:lnTo>
                    <a:pt x="1403531" y="0"/>
                  </a:lnTo>
                  <a:cubicBezTo>
                    <a:pt x="1430445" y="0"/>
                    <a:pt x="1452263" y="21818"/>
                    <a:pt x="1452263" y="48732"/>
                  </a:cubicBezTo>
                  <a:lnTo>
                    <a:pt x="1452263" y="2331919"/>
                  </a:lnTo>
                  <a:cubicBezTo>
                    <a:pt x="1452263" y="2358833"/>
                    <a:pt x="1430445" y="2380651"/>
                    <a:pt x="1403531" y="2380651"/>
                  </a:cubicBezTo>
                  <a:lnTo>
                    <a:pt x="48732" y="2380651"/>
                  </a:lnTo>
                  <a:cubicBezTo>
                    <a:pt x="21818" y="2380651"/>
                    <a:pt x="0" y="2358833"/>
                    <a:pt x="0" y="2331919"/>
                  </a:cubicBezTo>
                  <a:lnTo>
                    <a:pt x="0" y="48732"/>
                  </a:lnTo>
                  <a:cubicBezTo>
                    <a:pt x="0" y="21818"/>
                    <a:pt x="21818" y="0"/>
                    <a:pt x="48732" y="0"/>
                  </a:cubicBezTo>
                  <a:close/>
                </a:path>
              </a:pathLst>
            </a:custGeom>
            <a:ln w="57150" cap="rnd">
              <a:solidFill>
                <a:srgbClr val="7E6597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452263" cy="24187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367009" y="3683406"/>
            <a:ext cx="3653977" cy="5989856"/>
            <a:chOff x="0" y="0"/>
            <a:chExt cx="1452263" cy="238065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52263" cy="2380651"/>
            </a:xfrm>
            <a:custGeom>
              <a:avLst/>
              <a:gdLst/>
              <a:ahLst/>
              <a:cxnLst/>
              <a:rect r="r" b="b" t="t" l="l"/>
              <a:pathLst>
                <a:path h="2380651" w="1452263">
                  <a:moveTo>
                    <a:pt x="48732" y="0"/>
                  </a:moveTo>
                  <a:lnTo>
                    <a:pt x="1403531" y="0"/>
                  </a:lnTo>
                  <a:cubicBezTo>
                    <a:pt x="1430445" y="0"/>
                    <a:pt x="1452263" y="21818"/>
                    <a:pt x="1452263" y="48732"/>
                  </a:cubicBezTo>
                  <a:lnTo>
                    <a:pt x="1452263" y="2331919"/>
                  </a:lnTo>
                  <a:cubicBezTo>
                    <a:pt x="1452263" y="2358833"/>
                    <a:pt x="1430445" y="2380651"/>
                    <a:pt x="1403531" y="2380651"/>
                  </a:cubicBezTo>
                  <a:lnTo>
                    <a:pt x="48732" y="2380651"/>
                  </a:lnTo>
                  <a:cubicBezTo>
                    <a:pt x="21818" y="2380651"/>
                    <a:pt x="0" y="2358833"/>
                    <a:pt x="0" y="2331919"/>
                  </a:cubicBezTo>
                  <a:lnTo>
                    <a:pt x="0" y="48732"/>
                  </a:lnTo>
                  <a:cubicBezTo>
                    <a:pt x="0" y="21818"/>
                    <a:pt x="21818" y="0"/>
                    <a:pt x="48732" y="0"/>
                  </a:cubicBezTo>
                  <a:close/>
                </a:path>
              </a:pathLst>
            </a:custGeom>
            <a:ln w="57150" cap="rnd">
              <a:solidFill>
                <a:srgbClr val="7E6597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452263" cy="24187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268636" y="3683406"/>
            <a:ext cx="3653977" cy="5989856"/>
            <a:chOff x="0" y="0"/>
            <a:chExt cx="1452263" cy="238065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52263" cy="2380651"/>
            </a:xfrm>
            <a:custGeom>
              <a:avLst/>
              <a:gdLst/>
              <a:ahLst/>
              <a:cxnLst/>
              <a:rect r="r" b="b" t="t" l="l"/>
              <a:pathLst>
                <a:path h="2380651" w="1452263">
                  <a:moveTo>
                    <a:pt x="48732" y="0"/>
                  </a:moveTo>
                  <a:lnTo>
                    <a:pt x="1403531" y="0"/>
                  </a:lnTo>
                  <a:cubicBezTo>
                    <a:pt x="1430445" y="0"/>
                    <a:pt x="1452263" y="21818"/>
                    <a:pt x="1452263" y="48732"/>
                  </a:cubicBezTo>
                  <a:lnTo>
                    <a:pt x="1452263" y="2331919"/>
                  </a:lnTo>
                  <a:cubicBezTo>
                    <a:pt x="1452263" y="2358833"/>
                    <a:pt x="1430445" y="2380651"/>
                    <a:pt x="1403531" y="2380651"/>
                  </a:cubicBezTo>
                  <a:lnTo>
                    <a:pt x="48732" y="2380651"/>
                  </a:lnTo>
                  <a:cubicBezTo>
                    <a:pt x="21818" y="2380651"/>
                    <a:pt x="0" y="2358833"/>
                    <a:pt x="0" y="2331919"/>
                  </a:cubicBezTo>
                  <a:lnTo>
                    <a:pt x="0" y="48732"/>
                  </a:lnTo>
                  <a:cubicBezTo>
                    <a:pt x="0" y="21818"/>
                    <a:pt x="21818" y="0"/>
                    <a:pt x="48732" y="0"/>
                  </a:cubicBezTo>
                  <a:close/>
                </a:path>
              </a:pathLst>
            </a:custGeom>
            <a:ln w="57150" cap="rnd">
              <a:solidFill>
                <a:srgbClr val="7E6597"/>
              </a:solidFill>
              <a:prstDash val="solid"/>
              <a:round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452263" cy="24187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170264" y="3683406"/>
            <a:ext cx="3653977" cy="5989856"/>
            <a:chOff x="0" y="0"/>
            <a:chExt cx="1452263" cy="238065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52263" cy="2380651"/>
            </a:xfrm>
            <a:custGeom>
              <a:avLst/>
              <a:gdLst/>
              <a:ahLst/>
              <a:cxnLst/>
              <a:rect r="r" b="b" t="t" l="l"/>
              <a:pathLst>
                <a:path h="2380651" w="1452263">
                  <a:moveTo>
                    <a:pt x="48732" y="0"/>
                  </a:moveTo>
                  <a:lnTo>
                    <a:pt x="1403531" y="0"/>
                  </a:lnTo>
                  <a:cubicBezTo>
                    <a:pt x="1430445" y="0"/>
                    <a:pt x="1452263" y="21818"/>
                    <a:pt x="1452263" y="48732"/>
                  </a:cubicBezTo>
                  <a:lnTo>
                    <a:pt x="1452263" y="2331919"/>
                  </a:lnTo>
                  <a:cubicBezTo>
                    <a:pt x="1452263" y="2358833"/>
                    <a:pt x="1430445" y="2380651"/>
                    <a:pt x="1403531" y="2380651"/>
                  </a:cubicBezTo>
                  <a:lnTo>
                    <a:pt x="48732" y="2380651"/>
                  </a:lnTo>
                  <a:cubicBezTo>
                    <a:pt x="21818" y="2380651"/>
                    <a:pt x="0" y="2358833"/>
                    <a:pt x="0" y="2331919"/>
                  </a:cubicBezTo>
                  <a:lnTo>
                    <a:pt x="0" y="48732"/>
                  </a:lnTo>
                  <a:cubicBezTo>
                    <a:pt x="0" y="21818"/>
                    <a:pt x="21818" y="0"/>
                    <a:pt x="48732" y="0"/>
                  </a:cubicBezTo>
                  <a:close/>
                </a:path>
              </a:pathLst>
            </a:custGeom>
            <a:ln w="57150" cap="rnd">
              <a:solidFill>
                <a:srgbClr val="7E6597"/>
              </a:solidFill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452263" cy="241875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1826546" y="4521039"/>
            <a:ext cx="3002718" cy="1114759"/>
          </a:xfrm>
          <a:custGeom>
            <a:avLst/>
            <a:gdLst/>
            <a:ahLst/>
            <a:cxnLst/>
            <a:rect r="r" b="b" t="t" l="l"/>
            <a:pathLst>
              <a:path h="1114759" w="3002718">
                <a:moveTo>
                  <a:pt x="0" y="0"/>
                </a:moveTo>
                <a:lnTo>
                  <a:pt x="3002718" y="0"/>
                </a:lnTo>
                <a:lnTo>
                  <a:pt x="3002718" y="1114760"/>
                </a:lnTo>
                <a:lnTo>
                  <a:pt x="0" y="111476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1" id="21"/>
          <p:cNvSpPr/>
          <p:nvPr/>
        </p:nvSpPr>
        <p:spPr>
          <a:xfrm flipH="false" flipV="false" rot="0">
            <a:off x="1745855" y="5518040"/>
            <a:ext cx="3116139" cy="1747959"/>
          </a:xfrm>
          <a:custGeom>
            <a:avLst/>
            <a:gdLst/>
            <a:ahLst/>
            <a:cxnLst/>
            <a:rect r="r" b="b" t="t" l="l"/>
            <a:pathLst>
              <a:path h="1747959" w="3116139">
                <a:moveTo>
                  <a:pt x="0" y="0"/>
                </a:moveTo>
                <a:lnTo>
                  <a:pt x="3116139" y="0"/>
                </a:lnTo>
                <a:lnTo>
                  <a:pt x="3116139" y="1747959"/>
                </a:lnTo>
                <a:lnTo>
                  <a:pt x="0" y="17479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2" id="22"/>
          <p:cNvSpPr/>
          <p:nvPr/>
        </p:nvSpPr>
        <p:spPr>
          <a:xfrm flipH="false" flipV="false" rot="0">
            <a:off x="1808453" y="7052874"/>
            <a:ext cx="2990943" cy="1682405"/>
          </a:xfrm>
          <a:custGeom>
            <a:avLst/>
            <a:gdLst/>
            <a:ahLst/>
            <a:cxnLst/>
            <a:rect r="r" b="b" t="t" l="l"/>
            <a:pathLst>
              <a:path h="1682405" w="2990943">
                <a:moveTo>
                  <a:pt x="0" y="0"/>
                </a:moveTo>
                <a:lnTo>
                  <a:pt x="2990943" y="0"/>
                </a:lnTo>
                <a:lnTo>
                  <a:pt x="2990943" y="1682405"/>
                </a:lnTo>
                <a:lnTo>
                  <a:pt x="0" y="16824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3" id="23"/>
          <p:cNvSpPr/>
          <p:nvPr/>
        </p:nvSpPr>
        <p:spPr>
          <a:xfrm flipH="false" flipV="false" rot="0">
            <a:off x="5491041" y="4613658"/>
            <a:ext cx="3405914" cy="1702957"/>
          </a:xfrm>
          <a:custGeom>
            <a:avLst/>
            <a:gdLst/>
            <a:ahLst/>
            <a:cxnLst/>
            <a:rect r="r" b="b" t="t" l="l"/>
            <a:pathLst>
              <a:path h="1702957" w="3405914">
                <a:moveTo>
                  <a:pt x="0" y="0"/>
                </a:moveTo>
                <a:lnTo>
                  <a:pt x="3405914" y="0"/>
                </a:lnTo>
                <a:lnTo>
                  <a:pt x="3405914" y="1702958"/>
                </a:lnTo>
                <a:lnTo>
                  <a:pt x="0" y="170295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4" id="24"/>
          <p:cNvSpPr/>
          <p:nvPr/>
        </p:nvSpPr>
        <p:spPr>
          <a:xfrm flipH="false" flipV="false" rot="0">
            <a:off x="9537517" y="6294450"/>
            <a:ext cx="3130124" cy="604505"/>
          </a:xfrm>
          <a:custGeom>
            <a:avLst/>
            <a:gdLst/>
            <a:ahLst/>
            <a:cxnLst/>
            <a:rect r="r" b="b" t="t" l="l"/>
            <a:pathLst>
              <a:path h="604505" w="3130124">
                <a:moveTo>
                  <a:pt x="0" y="0"/>
                </a:moveTo>
                <a:lnTo>
                  <a:pt x="3130124" y="0"/>
                </a:lnTo>
                <a:lnTo>
                  <a:pt x="3130124" y="604505"/>
                </a:lnTo>
                <a:lnTo>
                  <a:pt x="0" y="6045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5" id="25"/>
          <p:cNvSpPr/>
          <p:nvPr/>
        </p:nvSpPr>
        <p:spPr>
          <a:xfrm flipH="false" flipV="false" rot="0">
            <a:off x="9721800" y="7073295"/>
            <a:ext cx="2747651" cy="1261217"/>
          </a:xfrm>
          <a:custGeom>
            <a:avLst/>
            <a:gdLst/>
            <a:ahLst/>
            <a:cxnLst/>
            <a:rect r="r" b="b" t="t" l="l"/>
            <a:pathLst>
              <a:path h="1261217" w="2747651">
                <a:moveTo>
                  <a:pt x="0" y="0"/>
                </a:moveTo>
                <a:lnTo>
                  <a:pt x="2747651" y="0"/>
                </a:lnTo>
                <a:lnTo>
                  <a:pt x="2747651" y="1261217"/>
                </a:lnTo>
                <a:lnTo>
                  <a:pt x="0" y="126121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6" id="26"/>
          <p:cNvSpPr/>
          <p:nvPr/>
        </p:nvSpPr>
        <p:spPr>
          <a:xfrm flipH="false" flipV="false" rot="0">
            <a:off x="9753252" y="3961429"/>
            <a:ext cx="2459051" cy="832491"/>
          </a:xfrm>
          <a:custGeom>
            <a:avLst/>
            <a:gdLst/>
            <a:ahLst/>
            <a:cxnLst/>
            <a:rect r="r" b="b" t="t" l="l"/>
            <a:pathLst>
              <a:path h="832491" w="2459051">
                <a:moveTo>
                  <a:pt x="0" y="0"/>
                </a:moveTo>
                <a:lnTo>
                  <a:pt x="2459052" y="0"/>
                </a:lnTo>
                <a:lnTo>
                  <a:pt x="2459052" y="832491"/>
                </a:lnTo>
                <a:lnTo>
                  <a:pt x="0" y="83249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7" id="27"/>
          <p:cNvSpPr/>
          <p:nvPr/>
        </p:nvSpPr>
        <p:spPr>
          <a:xfrm flipH="false" flipV="false" rot="0">
            <a:off x="9564011" y="5193970"/>
            <a:ext cx="3063227" cy="789251"/>
          </a:xfrm>
          <a:custGeom>
            <a:avLst/>
            <a:gdLst/>
            <a:ahLst/>
            <a:cxnLst/>
            <a:rect r="r" b="b" t="t" l="l"/>
            <a:pathLst>
              <a:path h="789251" w="3063227">
                <a:moveTo>
                  <a:pt x="0" y="0"/>
                </a:moveTo>
                <a:lnTo>
                  <a:pt x="3063228" y="0"/>
                </a:lnTo>
                <a:lnTo>
                  <a:pt x="3063228" y="789251"/>
                </a:lnTo>
                <a:lnTo>
                  <a:pt x="0" y="78925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-5707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8" id="28"/>
          <p:cNvSpPr/>
          <p:nvPr/>
        </p:nvSpPr>
        <p:spPr>
          <a:xfrm flipH="false" flipV="false" rot="0">
            <a:off x="9646428" y="8508852"/>
            <a:ext cx="3021213" cy="800621"/>
          </a:xfrm>
          <a:custGeom>
            <a:avLst/>
            <a:gdLst/>
            <a:ahLst/>
            <a:cxnLst/>
            <a:rect r="r" b="b" t="t" l="l"/>
            <a:pathLst>
              <a:path h="800621" w="3021213">
                <a:moveTo>
                  <a:pt x="0" y="0"/>
                </a:moveTo>
                <a:lnTo>
                  <a:pt x="3021213" y="0"/>
                </a:lnTo>
                <a:lnTo>
                  <a:pt x="3021213" y="800621"/>
                </a:lnTo>
                <a:lnTo>
                  <a:pt x="0" y="80062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9" id="29"/>
          <p:cNvSpPr/>
          <p:nvPr/>
        </p:nvSpPr>
        <p:spPr>
          <a:xfrm flipH="false" flipV="false" rot="0">
            <a:off x="13320572" y="3961429"/>
            <a:ext cx="3353362" cy="2045551"/>
          </a:xfrm>
          <a:custGeom>
            <a:avLst/>
            <a:gdLst/>
            <a:ahLst/>
            <a:cxnLst/>
            <a:rect r="r" b="b" t="t" l="l"/>
            <a:pathLst>
              <a:path h="2045551" w="3353362">
                <a:moveTo>
                  <a:pt x="0" y="0"/>
                </a:moveTo>
                <a:lnTo>
                  <a:pt x="3353362" y="0"/>
                </a:lnTo>
                <a:lnTo>
                  <a:pt x="3353362" y="2045551"/>
                </a:lnTo>
                <a:lnTo>
                  <a:pt x="0" y="204555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0" id="30"/>
          <p:cNvSpPr/>
          <p:nvPr/>
        </p:nvSpPr>
        <p:spPr>
          <a:xfrm flipH="false" flipV="false" rot="0">
            <a:off x="5647942" y="5954965"/>
            <a:ext cx="3080460" cy="3080460"/>
          </a:xfrm>
          <a:custGeom>
            <a:avLst/>
            <a:gdLst/>
            <a:ahLst/>
            <a:cxnLst/>
            <a:rect r="r" b="b" t="t" l="l"/>
            <a:pathLst>
              <a:path h="3080460" w="3080460">
                <a:moveTo>
                  <a:pt x="0" y="0"/>
                </a:moveTo>
                <a:lnTo>
                  <a:pt x="3080459" y="0"/>
                </a:lnTo>
                <a:lnTo>
                  <a:pt x="3080459" y="3080460"/>
                </a:lnTo>
                <a:lnTo>
                  <a:pt x="0" y="308046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1" id="31"/>
          <p:cNvSpPr/>
          <p:nvPr/>
        </p:nvSpPr>
        <p:spPr>
          <a:xfrm flipH="false" flipV="false" rot="0">
            <a:off x="13320572" y="6426831"/>
            <a:ext cx="3353362" cy="503004"/>
          </a:xfrm>
          <a:custGeom>
            <a:avLst/>
            <a:gdLst/>
            <a:ahLst/>
            <a:cxnLst/>
            <a:rect r="r" b="b" t="t" l="l"/>
            <a:pathLst>
              <a:path h="503004" w="3353362">
                <a:moveTo>
                  <a:pt x="0" y="0"/>
                </a:moveTo>
                <a:lnTo>
                  <a:pt x="3353362" y="0"/>
                </a:lnTo>
                <a:lnTo>
                  <a:pt x="3353362" y="503005"/>
                </a:lnTo>
                <a:lnTo>
                  <a:pt x="0" y="5030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32" id="32"/>
          <p:cNvSpPr/>
          <p:nvPr/>
        </p:nvSpPr>
        <p:spPr>
          <a:xfrm flipH="false" flipV="false" rot="0">
            <a:off x="13653666" y="7495195"/>
            <a:ext cx="2742668" cy="1028501"/>
          </a:xfrm>
          <a:custGeom>
            <a:avLst/>
            <a:gdLst/>
            <a:ahLst/>
            <a:cxnLst/>
            <a:rect r="r" b="b" t="t" l="l"/>
            <a:pathLst>
              <a:path h="1028501" w="2742668">
                <a:moveTo>
                  <a:pt x="0" y="0"/>
                </a:moveTo>
                <a:lnTo>
                  <a:pt x="2742669" y="0"/>
                </a:lnTo>
                <a:lnTo>
                  <a:pt x="2742669" y="1028501"/>
                </a:lnTo>
                <a:lnTo>
                  <a:pt x="0" y="102850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33" id="33"/>
          <p:cNvSpPr txBox="true"/>
          <p:nvPr/>
        </p:nvSpPr>
        <p:spPr>
          <a:xfrm rot="0">
            <a:off x="1463759" y="2801072"/>
            <a:ext cx="3653977" cy="755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937"/>
              </a:lnSpc>
              <a:spcBef>
                <a:spcPct val="0"/>
              </a:spcBef>
            </a:pPr>
            <a:r>
              <a:rPr lang="en-US" sz="2907" strike="noStrike" u="none">
                <a:solidFill>
                  <a:srgbClr val="7A5EA8"/>
                </a:solidFill>
                <a:latin typeface="Bree Serif"/>
                <a:ea typeface="Bree Serif"/>
                <a:cs typeface="Bree Serif"/>
                <a:sym typeface="Bree Serif"/>
              </a:rPr>
              <a:t>Gestión y control de versiones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367009" y="2882613"/>
            <a:ext cx="3653977" cy="488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1"/>
              </a:lnSpc>
            </a:pPr>
            <a:r>
              <a:rPr lang="en-US" sz="2907">
                <a:solidFill>
                  <a:srgbClr val="7A5EA8"/>
                </a:solidFill>
                <a:latin typeface="Bree Serif"/>
                <a:ea typeface="Bree Serif"/>
                <a:cs typeface="Bree Serif"/>
                <a:sym typeface="Bree Serif"/>
              </a:rPr>
              <a:t>Programación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832523" y="2801072"/>
            <a:ext cx="2649022" cy="7560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37"/>
              </a:lnSpc>
            </a:pPr>
            <a:r>
              <a:rPr lang="en-US" sz="2907">
                <a:solidFill>
                  <a:srgbClr val="7A5EA8"/>
                </a:solidFill>
                <a:latin typeface="Bree Serif"/>
                <a:ea typeface="Bree Serif"/>
                <a:cs typeface="Bree Serif"/>
                <a:sym typeface="Bree Serif"/>
              </a:rPr>
              <a:t>Framework y b</a:t>
            </a:r>
            <a:r>
              <a:rPr lang="en-US" sz="2907">
                <a:solidFill>
                  <a:srgbClr val="7A5EA8"/>
                </a:solidFill>
                <a:latin typeface="Bree Serif"/>
                <a:ea typeface="Bree Serif"/>
                <a:cs typeface="Bree Serif"/>
                <a:sym typeface="Bree Serif"/>
              </a:rPr>
              <a:t>ase de datos 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3265823" y="2882613"/>
            <a:ext cx="3462858" cy="488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1"/>
              </a:lnSpc>
            </a:pPr>
            <a:r>
              <a:rPr lang="en-US" sz="2907">
                <a:solidFill>
                  <a:srgbClr val="7A5EA8"/>
                </a:solidFill>
                <a:latin typeface="Bree Serif"/>
                <a:ea typeface="Bree Serif"/>
                <a:cs typeface="Bree Serif"/>
                <a:sym typeface="Bree Serif"/>
              </a:rPr>
              <a:t>Diseño y prototipo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D3C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2568813" y="-24024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3275905" y="-1066396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8" y="2537890"/>
                </a:lnTo>
                <a:lnTo>
                  <a:pt x="5719188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89933" y="2297645"/>
            <a:ext cx="18108133" cy="7714039"/>
            <a:chOff x="0" y="0"/>
            <a:chExt cx="24144178" cy="1028538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4362464" y="0"/>
              <a:ext cx="4909596" cy="10285386"/>
            </a:xfrm>
            <a:custGeom>
              <a:avLst/>
              <a:gdLst/>
              <a:ahLst/>
              <a:cxnLst/>
              <a:rect r="r" b="b" t="t" l="l"/>
              <a:pathLst>
                <a:path h="10285386" w="4909596">
                  <a:moveTo>
                    <a:pt x="0" y="0"/>
                  </a:moveTo>
                  <a:lnTo>
                    <a:pt x="4909596" y="0"/>
                  </a:lnTo>
                  <a:lnTo>
                    <a:pt x="4909596" y="10285386"/>
                  </a:lnTo>
                  <a:lnTo>
                    <a:pt x="0" y="102853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21378" cy="10285386"/>
            </a:xfrm>
            <a:custGeom>
              <a:avLst/>
              <a:gdLst/>
              <a:ahLst/>
              <a:cxnLst/>
              <a:rect r="r" b="b" t="t" l="l"/>
              <a:pathLst>
                <a:path h="10285386" w="4521378">
                  <a:moveTo>
                    <a:pt x="0" y="0"/>
                  </a:moveTo>
                  <a:lnTo>
                    <a:pt x="4521378" y="0"/>
                  </a:lnTo>
                  <a:lnTo>
                    <a:pt x="4521378" y="10285386"/>
                  </a:lnTo>
                  <a:lnTo>
                    <a:pt x="0" y="102853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9473717" y="0"/>
              <a:ext cx="4799847" cy="10285386"/>
            </a:xfrm>
            <a:custGeom>
              <a:avLst/>
              <a:gdLst/>
              <a:ahLst/>
              <a:cxnLst/>
              <a:rect r="r" b="b" t="t" l="l"/>
              <a:pathLst>
                <a:path h="10285386" w="4799847">
                  <a:moveTo>
                    <a:pt x="0" y="0"/>
                  </a:moveTo>
                  <a:lnTo>
                    <a:pt x="4799847" y="0"/>
                  </a:lnTo>
                  <a:lnTo>
                    <a:pt x="4799847" y="10285386"/>
                  </a:lnTo>
                  <a:lnTo>
                    <a:pt x="0" y="102853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9360960" y="0"/>
              <a:ext cx="4783218" cy="10285386"/>
            </a:xfrm>
            <a:custGeom>
              <a:avLst/>
              <a:gdLst/>
              <a:ahLst/>
              <a:cxnLst/>
              <a:rect r="r" b="b" t="t" l="l"/>
              <a:pathLst>
                <a:path h="10285386" w="4783218">
                  <a:moveTo>
                    <a:pt x="0" y="0"/>
                  </a:moveTo>
                  <a:lnTo>
                    <a:pt x="4783218" y="0"/>
                  </a:lnTo>
                  <a:lnTo>
                    <a:pt x="4783218" y="10285386"/>
                  </a:lnTo>
                  <a:lnTo>
                    <a:pt x="0" y="102853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4612213" y="0"/>
              <a:ext cx="4770668" cy="10285386"/>
            </a:xfrm>
            <a:custGeom>
              <a:avLst/>
              <a:gdLst/>
              <a:ahLst/>
              <a:cxnLst/>
              <a:rect r="r" b="b" t="t" l="l"/>
              <a:pathLst>
                <a:path h="10285386" w="4770668">
                  <a:moveTo>
                    <a:pt x="0" y="0"/>
                  </a:moveTo>
                  <a:lnTo>
                    <a:pt x="4770668" y="0"/>
                  </a:lnTo>
                  <a:lnTo>
                    <a:pt x="4770668" y="10285386"/>
                  </a:lnTo>
                  <a:lnTo>
                    <a:pt x="0" y="102853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544427" y="520522"/>
            <a:ext cx="5754731" cy="1279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499"/>
              </a:lnSpc>
              <a:spcBef>
                <a:spcPct val="0"/>
              </a:spcBef>
            </a:pPr>
            <a:r>
              <a:rPr lang="en-US" sz="9999" strike="noStrike" u="none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wireframes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44427" y="1755596"/>
            <a:ext cx="8738463" cy="488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71"/>
              </a:lnSpc>
            </a:pPr>
            <a:r>
              <a:rPr lang="en-US" sz="2907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rPr>
              <a:t>Wireframes realizados con Balsamiq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D3C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2568813" y="-24024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3275905" y="-1066396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8" y="2537890"/>
                </a:lnTo>
                <a:lnTo>
                  <a:pt x="5719188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600925" y="4091748"/>
            <a:ext cx="11086150" cy="1279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499"/>
              </a:lnSpc>
              <a:spcBef>
                <a:spcPct val="0"/>
              </a:spcBef>
            </a:pPr>
            <a:r>
              <a:rPr lang="en-US" sz="9999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PROTOTIPOS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4774768" y="5323647"/>
            <a:ext cx="8738463" cy="488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1"/>
              </a:lnSpc>
            </a:pPr>
            <a:r>
              <a:rPr lang="en-US" sz="2907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</a:rPr>
              <a:t>Flujo de navegación</a:t>
            </a:r>
          </a:p>
        </p:txBody>
      </p:sp>
      <p:sp>
        <p:nvSpPr>
          <p:cNvPr name="Freeform 6" id="6"/>
          <p:cNvSpPr/>
          <p:nvPr/>
        </p:nvSpPr>
        <p:spPr>
          <a:xfrm flipH="false" flipV="true" rot="0">
            <a:off x="-1355938" y="8404317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89"/>
                </a:moveTo>
                <a:lnTo>
                  <a:pt x="5719187" y="2537889"/>
                </a:lnTo>
                <a:lnTo>
                  <a:pt x="5719187" y="0"/>
                </a:lnTo>
                <a:lnTo>
                  <a:pt x="0" y="0"/>
                </a:lnTo>
                <a:lnTo>
                  <a:pt x="0" y="2537889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-1750203" y="9008877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89"/>
                </a:moveTo>
                <a:lnTo>
                  <a:pt x="5719187" y="2537889"/>
                </a:lnTo>
                <a:lnTo>
                  <a:pt x="5719187" y="0"/>
                </a:lnTo>
                <a:lnTo>
                  <a:pt x="0" y="0"/>
                </a:lnTo>
                <a:lnTo>
                  <a:pt x="0" y="2537889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D3C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2568813" y="-24024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3275905" y="-1066396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8" y="2537890"/>
                </a:lnTo>
                <a:lnTo>
                  <a:pt x="5719188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8369093" y="2087946"/>
            <a:ext cx="7766406" cy="5686107"/>
            <a:chOff x="0" y="0"/>
            <a:chExt cx="3086735" cy="225992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086735" cy="2259927"/>
            </a:xfrm>
            <a:custGeom>
              <a:avLst/>
              <a:gdLst/>
              <a:ahLst/>
              <a:cxnLst/>
              <a:rect r="r" b="b" t="t" l="l"/>
              <a:pathLst>
                <a:path h="2259927" w="3086735">
                  <a:moveTo>
                    <a:pt x="22927" y="0"/>
                  </a:moveTo>
                  <a:lnTo>
                    <a:pt x="3063808" y="0"/>
                  </a:lnTo>
                  <a:cubicBezTo>
                    <a:pt x="3069889" y="0"/>
                    <a:pt x="3075720" y="2416"/>
                    <a:pt x="3080020" y="6715"/>
                  </a:cubicBezTo>
                  <a:cubicBezTo>
                    <a:pt x="3084320" y="11015"/>
                    <a:pt x="3086735" y="16847"/>
                    <a:pt x="3086735" y="22927"/>
                  </a:cubicBezTo>
                  <a:lnTo>
                    <a:pt x="3086735" y="2236999"/>
                  </a:lnTo>
                  <a:cubicBezTo>
                    <a:pt x="3086735" y="2243080"/>
                    <a:pt x="3084320" y="2248912"/>
                    <a:pt x="3080020" y="2253211"/>
                  </a:cubicBezTo>
                  <a:cubicBezTo>
                    <a:pt x="3075720" y="2257511"/>
                    <a:pt x="3069889" y="2259927"/>
                    <a:pt x="3063808" y="2259927"/>
                  </a:cubicBezTo>
                  <a:lnTo>
                    <a:pt x="22927" y="2259927"/>
                  </a:lnTo>
                  <a:cubicBezTo>
                    <a:pt x="16847" y="2259927"/>
                    <a:pt x="11015" y="2257511"/>
                    <a:pt x="6715" y="2253211"/>
                  </a:cubicBezTo>
                  <a:cubicBezTo>
                    <a:pt x="2416" y="2248912"/>
                    <a:pt x="0" y="2243080"/>
                    <a:pt x="0" y="2236999"/>
                  </a:cubicBezTo>
                  <a:lnTo>
                    <a:pt x="0" y="22927"/>
                  </a:lnTo>
                  <a:cubicBezTo>
                    <a:pt x="0" y="16847"/>
                    <a:pt x="2416" y="11015"/>
                    <a:pt x="6715" y="6715"/>
                  </a:cubicBezTo>
                  <a:cubicBezTo>
                    <a:pt x="11015" y="2416"/>
                    <a:pt x="16847" y="0"/>
                    <a:pt x="22927" y="0"/>
                  </a:cubicBezTo>
                  <a:close/>
                </a:path>
              </a:pathLst>
            </a:custGeom>
            <a:ln w="57150" cap="rnd">
              <a:solidFill>
                <a:srgbClr val="A6A6A6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3086735" cy="22980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8546491" y="4195291"/>
            <a:ext cx="7411610" cy="3322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320"/>
              </a:lnSpc>
              <a:spcBef>
                <a:spcPct val="0"/>
              </a:spcBef>
            </a:pPr>
            <a:r>
              <a:rPr lang="en-US" sz="3800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S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cció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n "Re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comendado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s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pa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ra t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i" con b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us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cador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y f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i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ltro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s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(Todos / Gra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t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i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s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/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Cerc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de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m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í), r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ee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m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pl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az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ando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lis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ta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dos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g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enéric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o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s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p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o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r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sel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cción relevante.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076326" y="2655918"/>
            <a:ext cx="6351940" cy="1409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14"/>
              </a:lnSpc>
              <a:spcBef>
                <a:spcPct val="0"/>
              </a:spcBef>
            </a:pPr>
            <a:r>
              <a:rPr lang="en-US" sz="5699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¿cómo responde a la problemática?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825828" y="527621"/>
            <a:ext cx="4405109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Inicio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2768493" y="1290731"/>
            <a:ext cx="4519780" cy="8229600"/>
          </a:xfrm>
          <a:custGeom>
            <a:avLst/>
            <a:gdLst/>
            <a:ahLst/>
            <a:cxnLst/>
            <a:rect r="r" b="b" t="t" l="l"/>
            <a:pathLst>
              <a:path h="8229600" w="4519780">
                <a:moveTo>
                  <a:pt x="0" y="0"/>
                </a:moveTo>
                <a:lnTo>
                  <a:pt x="4519780" y="0"/>
                </a:lnTo>
                <a:lnTo>
                  <a:pt x="451978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rnd">
            <a:solidFill>
              <a:srgbClr val="000000"/>
            </a:solidFill>
            <a:prstDash val="solid"/>
            <a:round/>
          </a:ln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D3C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2568813" y="-24024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3275905" y="-1066396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8" y="2537890"/>
                </a:lnTo>
                <a:lnTo>
                  <a:pt x="5719188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8369093" y="2087946"/>
            <a:ext cx="7766406" cy="5686107"/>
            <a:chOff x="0" y="0"/>
            <a:chExt cx="3086735" cy="225992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086735" cy="2259927"/>
            </a:xfrm>
            <a:custGeom>
              <a:avLst/>
              <a:gdLst/>
              <a:ahLst/>
              <a:cxnLst/>
              <a:rect r="r" b="b" t="t" l="l"/>
              <a:pathLst>
                <a:path h="2259927" w="3086735">
                  <a:moveTo>
                    <a:pt x="22927" y="0"/>
                  </a:moveTo>
                  <a:lnTo>
                    <a:pt x="3063808" y="0"/>
                  </a:lnTo>
                  <a:cubicBezTo>
                    <a:pt x="3069889" y="0"/>
                    <a:pt x="3075720" y="2416"/>
                    <a:pt x="3080020" y="6715"/>
                  </a:cubicBezTo>
                  <a:cubicBezTo>
                    <a:pt x="3084320" y="11015"/>
                    <a:pt x="3086735" y="16847"/>
                    <a:pt x="3086735" y="22927"/>
                  </a:cubicBezTo>
                  <a:lnTo>
                    <a:pt x="3086735" y="2236999"/>
                  </a:lnTo>
                  <a:cubicBezTo>
                    <a:pt x="3086735" y="2243080"/>
                    <a:pt x="3084320" y="2248912"/>
                    <a:pt x="3080020" y="2253211"/>
                  </a:cubicBezTo>
                  <a:cubicBezTo>
                    <a:pt x="3075720" y="2257511"/>
                    <a:pt x="3069889" y="2259927"/>
                    <a:pt x="3063808" y="2259927"/>
                  </a:cubicBezTo>
                  <a:lnTo>
                    <a:pt x="22927" y="2259927"/>
                  </a:lnTo>
                  <a:cubicBezTo>
                    <a:pt x="16847" y="2259927"/>
                    <a:pt x="11015" y="2257511"/>
                    <a:pt x="6715" y="2253211"/>
                  </a:cubicBezTo>
                  <a:cubicBezTo>
                    <a:pt x="2416" y="2248912"/>
                    <a:pt x="0" y="2243080"/>
                    <a:pt x="0" y="2236999"/>
                  </a:cubicBezTo>
                  <a:lnTo>
                    <a:pt x="0" y="22927"/>
                  </a:lnTo>
                  <a:cubicBezTo>
                    <a:pt x="0" y="16847"/>
                    <a:pt x="2416" y="11015"/>
                    <a:pt x="6715" y="6715"/>
                  </a:cubicBezTo>
                  <a:cubicBezTo>
                    <a:pt x="11015" y="2416"/>
                    <a:pt x="16847" y="0"/>
                    <a:pt x="22927" y="0"/>
                  </a:cubicBezTo>
                  <a:close/>
                </a:path>
              </a:pathLst>
            </a:custGeom>
            <a:ln w="57150" cap="rnd">
              <a:solidFill>
                <a:srgbClr val="A6A6A6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3086735" cy="22980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8546491" y="4195291"/>
            <a:ext cx="7411610" cy="3322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320"/>
              </a:lnSpc>
              <a:spcBef>
                <a:spcPct val="0"/>
              </a:spcBef>
            </a:pPr>
            <a:r>
              <a:rPr lang="en-US" sz="3800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Fi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l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tra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por c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t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eg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o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r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í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,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com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u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n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 y g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r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tuid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d, y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m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u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str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pine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s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g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o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lo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caliz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ado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s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que ayud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an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d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es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cubrir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l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ug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res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po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co conocidos y armar recorridos reales.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076326" y="2655918"/>
            <a:ext cx="6351940" cy="1409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14"/>
              </a:lnSpc>
              <a:spcBef>
                <a:spcPct val="0"/>
              </a:spcBef>
            </a:pPr>
            <a:r>
              <a:rPr lang="en-US" sz="5699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¿cómo responde a la problemática?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825828" y="527621"/>
            <a:ext cx="4405109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Mapa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2758493" y="1302779"/>
            <a:ext cx="4539779" cy="8229600"/>
          </a:xfrm>
          <a:custGeom>
            <a:avLst/>
            <a:gdLst/>
            <a:ahLst/>
            <a:cxnLst/>
            <a:rect r="r" b="b" t="t" l="l"/>
            <a:pathLst>
              <a:path h="8229600" w="4539779">
                <a:moveTo>
                  <a:pt x="0" y="0"/>
                </a:moveTo>
                <a:lnTo>
                  <a:pt x="4539780" y="0"/>
                </a:lnTo>
                <a:lnTo>
                  <a:pt x="453978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rnd">
            <a:solidFill>
              <a:srgbClr val="000000"/>
            </a:solidFill>
            <a:prstDash val="solid"/>
            <a:round/>
          </a:ln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D3C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369093" y="2087946"/>
            <a:ext cx="7766406" cy="5310325"/>
            <a:chOff x="0" y="0"/>
            <a:chExt cx="3086735" cy="21105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086735" cy="2110573"/>
            </a:xfrm>
            <a:custGeom>
              <a:avLst/>
              <a:gdLst/>
              <a:ahLst/>
              <a:cxnLst/>
              <a:rect r="r" b="b" t="t" l="l"/>
              <a:pathLst>
                <a:path h="2110573" w="3086735">
                  <a:moveTo>
                    <a:pt x="22927" y="0"/>
                  </a:moveTo>
                  <a:lnTo>
                    <a:pt x="3063808" y="0"/>
                  </a:lnTo>
                  <a:cubicBezTo>
                    <a:pt x="3069889" y="0"/>
                    <a:pt x="3075720" y="2416"/>
                    <a:pt x="3080020" y="6715"/>
                  </a:cubicBezTo>
                  <a:cubicBezTo>
                    <a:pt x="3084320" y="11015"/>
                    <a:pt x="3086735" y="16847"/>
                    <a:pt x="3086735" y="22927"/>
                  </a:cubicBezTo>
                  <a:lnTo>
                    <a:pt x="3086735" y="2087645"/>
                  </a:lnTo>
                  <a:cubicBezTo>
                    <a:pt x="3086735" y="2093726"/>
                    <a:pt x="3084320" y="2099558"/>
                    <a:pt x="3080020" y="2103858"/>
                  </a:cubicBezTo>
                  <a:cubicBezTo>
                    <a:pt x="3075720" y="2108157"/>
                    <a:pt x="3069889" y="2110573"/>
                    <a:pt x="3063808" y="2110573"/>
                  </a:cubicBezTo>
                  <a:lnTo>
                    <a:pt x="22927" y="2110573"/>
                  </a:lnTo>
                  <a:cubicBezTo>
                    <a:pt x="16847" y="2110573"/>
                    <a:pt x="11015" y="2108157"/>
                    <a:pt x="6715" y="2103858"/>
                  </a:cubicBezTo>
                  <a:cubicBezTo>
                    <a:pt x="2416" y="2099558"/>
                    <a:pt x="0" y="2093726"/>
                    <a:pt x="0" y="2087645"/>
                  </a:cubicBezTo>
                  <a:lnTo>
                    <a:pt x="0" y="22927"/>
                  </a:lnTo>
                  <a:cubicBezTo>
                    <a:pt x="0" y="16847"/>
                    <a:pt x="2416" y="11015"/>
                    <a:pt x="6715" y="6715"/>
                  </a:cubicBezTo>
                  <a:cubicBezTo>
                    <a:pt x="11015" y="2416"/>
                    <a:pt x="16847" y="0"/>
                    <a:pt x="22927" y="0"/>
                  </a:cubicBezTo>
                  <a:close/>
                </a:path>
              </a:pathLst>
            </a:custGeom>
            <a:ln w="57150" cap="rnd">
              <a:solidFill>
                <a:srgbClr val="A6A6A6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3086735" cy="21486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true" rot="0">
            <a:off x="12568813" y="-24024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13275905" y="-1066396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8" y="2537890"/>
                </a:lnTo>
                <a:lnTo>
                  <a:pt x="5719188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8546491" y="4195291"/>
            <a:ext cx="7411610" cy="2656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320"/>
              </a:lnSpc>
              <a:spcBef>
                <a:spcPct val="0"/>
              </a:spcBef>
            </a:pPr>
            <a:r>
              <a:rPr lang="en-US" sz="3800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l mensaje "Registra tus visitas y gana medallas explorando Santiago" presenta la g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amificación desde el inicio.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825828" y="481330"/>
            <a:ext cx="4405109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Registro de usuario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076326" y="2655918"/>
            <a:ext cx="6351940" cy="1409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14"/>
              </a:lnSpc>
              <a:spcBef>
                <a:spcPct val="0"/>
              </a:spcBef>
            </a:pPr>
            <a:r>
              <a:rPr lang="en-US" sz="5699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¿cómo responde a la problemática?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2765743" y="1174875"/>
            <a:ext cx="4525279" cy="8229600"/>
          </a:xfrm>
          <a:custGeom>
            <a:avLst/>
            <a:gdLst/>
            <a:ahLst/>
            <a:cxnLst/>
            <a:rect r="r" b="b" t="t" l="l"/>
            <a:pathLst>
              <a:path h="8229600" w="4525279">
                <a:moveTo>
                  <a:pt x="0" y="0"/>
                </a:moveTo>
                <a:lnTo>
                  <a:pt x="4525279" y="0"/>
                </a:lnTo>
                <a:lnTo>
                  <a:pt x="4525279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rnd">
            <a:solidFill>
              <a:srgbClr val="000000"/>
            </a:solidFill>
            <a:prstDash val="solid"/>
            <a:round/>
          </a:ln>
        </p:spPr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D3C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2568813" y="-24024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3275905" y="-1066396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8" y="2537890"/>
                </a:lnTo>
                <a:lnTo>
                  <a:pt x="5719188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8369093" y="2087946"/>
            <a:ext cx="7766406" cy="5592162"/>
            <a:chOff x="0" y="0"/>
            <a:chExt cx="3086735" cy="222258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086735" cy="2222588"/>
            </a:xfrm>
            <a:custGeom>
              <a:avLst/>
              <a:gdLst/>
              <a:ahLst/>
              <a:cxnLst/>
              <a:rect r="r" b="b" t="t" l="l"/>
              <a:pathLst>
                <a:path h="2222588" w="3086735">
                  <a:moveTo>
                    <a:pt x="22927" y="0"/>
                  </a:moveTo>
                  <a:lnTo>
                    <a:pt x="3063808" y="0"/>
                  </a:lnTo>
                  <a:cubicBezTo>
                    <a:pt x="3069889" y="0"/>
                    <a:pt x="3075720" y="2416"/>
                    <a:pt x="3080020" y="6715"/>
                  </a:cubicBezTo>
                  <a:cubicBezTo>
                    <a:pt x="3084320" y="11015"/>
                    <a:pt x="3086735" y="16847"/>
                    <a:pt x="3086735" y="22927"/>
                  </a:cubicBezTo>
                  <a:lnTo>
                    <a:pt x="3086735" y="2199661"/>
                  </a:lnTo>
                  <a:cubicBezTo>
                    <a:pt x="3086735" y="2205742"/>
                    <a:pt x="3084320" y="2211573"/>
                    <a:pt x="3080020" y="2215873"/>
                  </a:cubicBezTo>
                  <a:cubicBezTo>
                    <a:pt x="3075720" y="2220173"/>
                    <a:pt x="3069889" y="2222588"/>
                    <a:pt x="3063808" y="2222588"/>
                  </a:cubicBezTo>
                  <a:lnTo>
                    <a:pt x="22927" y="2222588"/>
                  </a:lnTo>
                  <a:cubicBezTo>
                    <a:pt x="16847" y="2222588"/>
                    <a:pt x="11015" y="2220173"/>
                    <a:pt x="6715" y="2215873"/>
                  </a:cubicBezTo>
                  <a:cubicBezTo>
                    <a:pt x="2416" y="2211573"/>
                    <a:pt x="0" y="2205742"/>
                    <a:pt x="0" y="2199661"/>
                  </a:cubicBezTo>
                  <a:lnTo>
                    <a:pt x="0" y="22927"/>
                  </a:lnTo>
                  <a:cubicBezTo>
                    <a:pt x="0" y="16847"/>
                    <a:pt x="2416" y="11015"/>
                    <a:pt x="6715" y="6715"/>
                  </a:cubicBezTo>
                  <a:cubicBezTo>
                    <a:pt x="11015" y="2416"/>
                    <a:pt x="16847" y="0"/>
                    <a:pt x="22927" y="0"/>
                  </a:cubicBezTo>
                  <a:close/>
                </a:path>
              </a:pathLst>
            </a:custGeom>
            <a:ln w="57150" cap="rnd">
              <a:solidFill>
                <a:srgbClr val="A6A6A6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3086735" cy="22606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2825828" y="527621"/>
            <a:ext cx="4405109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59"/>
              </a:lnSpc>
              <a:spcBef>
                <a:spcPct val="0"/>
              </a:spcBef>
            </a:pPr>
            <a:r>
              <a:rPr lang="en-US" sz="3399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Inicio de sesión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546491" y="4195291"/>
            <a:ext cx="7589008" cy="3322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320"/>
              </a:lnSpc>
              <a:spcBef>
                <a:spcPct val="0"/>
              </a:spcBef>
            </a:pPr>
            <a:r>
              <a:rPr lang="en-US" sz="3800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Ofrece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l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opció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n "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S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eg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u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ir explorando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sin cue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nta"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,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re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duci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en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do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la fricción para descubrir lugares nuevos sin barreras de entrada.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076326" y="2655918"/>
            <a:ext cx="6351940" cy="1409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14"/>
              </a:lnSpc>
              <a:spcBef>
                <a:spcPct val="0"/>
              </a:spcBef>
            </a:pPr>
            <a:r>
              <a:rPr lang="en-US" sz="5699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¿cómo responde a la problemática?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2773971" y="1229691"/>
            <a:ext cx="4508823" cy="8229600"/>
          </a:xfrm>
          <a:custGeom>
            <a:avLst/>
            <a:gdLst/>
            <a:ahLst/>
            <a:cxnLst/>
            <a:rect r="r" b="b" t="t" l="l"/>
            <a:pathLst>
              <a:path h="8229600" w="4508823">
                <a:moveTo>
                  <a:pt x="0" y="0"/>
                </a:moveTo>
                <a:lnTo>
                  <a:pt x="4508824" y="0"/>
                </a:lnTo>
                <a:lnTo>
                  <a:pt x="450882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rnd">
            <a:solidFill>
              <a:srgbClr val="000000"/>
            </a:solidFill>
            <a:prstDash val="solid"/>
            <a:round/>
          </a:ln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D3C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2568813" y="-24024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true" rot="0">
            <a:off x="13275905" y="-1066396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8" y="2537890"/>
                </a:lnTo>
                <a:lnTo>
                  <a:pt x="5719188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8369093" y="2087946"/>
            <a:ext cx="7766406" cy="5310325"/>
            <a:chOff x="0" y="0"/>
            <a:chExt cx="3086735" cy="211057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086735" cy="2110573"/>
            </a:xfrm>
            <a:custGeom>
              <a:avLst/>
              <a:gdLst/>
              <a:ahLst/>
              <a:cxnLst/>
              <a:rect r="r" b="b" t="t" l="l"/>
              <a:pathLst>
                <a:path h="2110573" w="3086735">
                  <a:moveTo>
                    <a:pt x="22927" y="0"/>
                  </a:moveTo>
                  <a:lnTo>
                    <a:pt x="3063808" y="0"/>
                  </a:lnTo>
                  <a:cubicBezTo>
                    <a:pt x="3069889" y="0"/>
                    <a:pt x="3075720" y="2416"/>
                    <a:pt x="3080020" y="6715"/>
                  </a:cubicBezTo>
                  <a:cubicBezTo>
                    <a:pt x="3084320" y="11015"/>
                    <a:pt x="3086735" y="16847"/>
                    <a:pt x="3086735" y="22927"/>
                  </a:cubicBezTo>
                  <a:lnTo>
                    <a:pt x="3086735" y="2087645"/>
                  </a:lnTo>
                  <a:cubicBezTo>
                    <a:pt x="3086735" y="2093726"/>
                    <a:pt x="3084320" y="2099558"/>
                    <a:pt x="3080020" y="2103858"/>
                  </a:cubicBezTo>
                  <a:cubicBezTo>
                    <a:pt x="3075720" y="2108157"/>
                    <a:pt x="3069889" y="2110573"/>
                    <a:pt x="3063808" y="2110573"/>
                  </a:cubicBezTo>
                  <a:lnTo>
                    <a:pt x="22927" y="2110573"/>
                  </a:lnTo>
                  <a:cubicBezTo>
                    <a:pt x="16847" y="2110573"/>
                    <a:pt x="11015" y="2108157"/>
                    <a:pt x="6715" y="2103858"/>
                  </a:cubicBezTo>
                  <a:cubicBezTo>
                    <a:pt x="2416" y="2099558"/>
                    <a:pt x="0" y="2093726"/>
                    <a:pt x="0" y="2087645"/>
                  </a:cubicBezTo>
                  <a:lnTo>
                    <a:pt x="0" y="22927"/>
                  </a:lnTo>
                  <a:cubicBezTo>
                    <a:pt x="0" y="16847"/>
                    <a:pt x="2416" y="11015"/>
                    <a:pt x="6715" y="6715"/>
                  </a:cubicBezTo>
                  <a:cubicBezTo>
                    <a:pt x="11015" y="2416"/>
                    <a:pt x="16847" y="0"/>
                    <a:pt x="22927" y="0"/>
                  </a:cubicBezTo>
                  <a:close/>
                </a:path>
              </a:pathLst>
            </a:custGeom>
            <a:ln w="57150" cap="rnd">
              <a:solidFill>
                <a:srgbClr val="A6A6A6"/>
              </a:solidFill>
              <a:prstDash val="solid"/>
              <a:round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3086735" cy="214867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8546491" y="4657383"/>
            <a:ext cx="7411610" cy="1989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320"/>
              </a:lnSpc>
              <a:spcBef>
                <a:spcPct val="0"/>
              </a:spcBef>
            </a:pPr>
            <a:r>
              <a:rPr lang="en-US" sz="3800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Contador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d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Lug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r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s,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M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dalla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s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y Ca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t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ego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r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í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as visitadas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qu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pr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emi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an 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c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o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m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p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o</a:t>
            </a:r>
            <a:r>
              <a:rPr lang="en-US" sz="3800" strike="noStrike" u="none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rtamientos de exploración.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076326" y="2655918"/>
            <a:ext cx="6351940" cy="1409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14"/>
              </a:lnSpc>
              <a:spcBef>
                <a:spcPct val="0"/>
              </a:spcBef>
            </a:pPr>
            <a:r>
              <a:rPr lang="en-US" sz="5699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¿cómo responde a la problemática?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825828" y="527621"/>
            <a:ext cx="4405109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2EFEC"/>
                </a:solidFill>
                <a:latin typeface="Bree Serif"/>
                <a:ea typeface="Bree Serif"/>
                <a:cs typeface="Bree Serif"/>
                <a:sym typeface="Bree Serif"/>
              </a:rPr>
              <a:t>Mi perfil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2763493" y="1229691"/>
            <a:ext cx="4529780" cy="8229600"/>
          </a:xfrm>
          <a:custGeom>
            <a:avLst/>
            <a:gdLst/>
            <a:ahLst/>
            <a:cxnLst/>
            <a:rect r="r" b="b" t="t" l="l"/>
            <a:pathLst>
              <a:path h="8229600" w="4529780">
                <a:moveTo>
                  <a:pt x="0" y="0"/>
                </a:moveTo>
                <a:lnTo>
                  <a:pt x="4529780" y="0"/>
                </a:lnTo>
                <a:lnTo>
                  <a:pt x="452978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  <a:ln w="19050" cap="rnd">
            <a:solidFill>
              <a:srgbClr val="000000"/>
            </a:solidFill>
            <a:prstDash val="solid"/>
            <a:round/>
          </a:ln>
        </p:spPr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4D3C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630161" y="3038475"/>
            <a:ext cx="9027677" cy="3914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5000">
                <a:solidFill>
                  <a:srgbClr val="A986CC"/>
                </a:solidFill>
                <a:latin typeface="Luducudu"/>
                <a:ea typeface="Luducudu"/>
                <a:cs typeface="Luducudu"/>
                <a:sym typeface="Luducudu"/>
              </a:rPr>
              <a:t>Gracias por su atención</a:t>
            </a:r>
          </a:p>
        </p:txBody>
      </p:sp>
      <p:sp>
        <p:nvSpPr>
          <p:cNvPr name="Freeform 3" id="3"/>
          <p:cNvSpPr/>
          <p:nvPr/>
        </p:nvSpPr>
        <p:spPr>
          <a:xfrm flipH="false" flipV="true" rot="0">
            <a:off x="12568813" y="-24024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13275905" y="-1066396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8" y="2537890"/>
                </a:lnTo>
                <a:lnTo>
                  <a:pt x="5719188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true" rot="0">
            <a:off x="-530870" y="8253967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89"/>
                </a:moveTo>
                <a:lnTo>
                  <a:pt x="5719187" y="2537889"/>
                </a:lnTo>
                <a:lnTo>
                  <a:pt x="5719187" y="0"/>
                </a:lnTo>
                <a:lnTo>
                  <a:pt x="0" y="0"/>
                </a:lnTo>
                <a:lnTo>
                  <a:pt x="0" y="2537889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true" rot="0">
            <a:off x="-804583" y="9018055"/>
            <a:ext cx="5719187" cy="2537889"/>
          </a:xfrm>
          <a:custGeom>
            <a:avLst/>
            <a:gdLst/>
            <a:ahLst/>
            <a:cxnLst/>
            <a:rect r="r" b="b" t="t" l="l"/>
            <a:pathLst>
              <a:path h="2537889" w="5719187">
                <a:moveTo>
                  <a:pt x="0" y="2537890"/>
                </a:moveTo>
                <a:lnTo>
                  <a:pt x="5719187" y="2537890"/>
                </a:lnTo>
                <a:lnTo>
                  <a:pt x="5719187" y="0"/>
                </a:lnTo>
                <a:lnTo>
                  <a:pt x="0" y="0"/>
                </a:lnTo>
                <a:lnTo>
                  <a:pt x="0" y="253789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869641">
            <a:off x="13448147" y="4288687"/>
            <a:ext cx="5353562" cy="6551953"/>
          </a:xfrm>
          <a:custGeom>
            <a:avLst/>
            <a:gdLst/>
            <a:ahLst/>
            <a:cxnLst/>
            <a:rect r="r" b="b" t="t" l="l"/>
            <a:pathLst>
              <a:path h="6551953" w="5353562">
                <a:moveTo>
                  <a:pt x="0" y="0"/>
                </a:moveTo>
                <a:lnTo>
                  <a:pt x="5353562" y="0"/>
                </a:lnTo>
                <a:lnTo>
                  <a:pt x="5353562" y="6551953"/>
                </a:lnTo>
                <a:lnTo>
                  <a:pt x="0" y="65519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2601946">
            <a:off x="-3079270" y="-1836117"/>
            <a:ext cx="7733822" cy="7811942"/>
          </a:xfrm>
          <a:custGeom>
            <a:avLst/>
            <a:gdLst/>
            <a:ahLst/>
            <a:cxnLst/>
            <a:rect r="r" b="b" t="t" l="l"/>
            <a:pathLst>
              <a:path h="7811942" w="7733822">
                <a:moveTo>
                  <a:pt x="0" y="0"/>
                </a:moveTo>
                <a:lnTo>
                  <a:pt x="7733822" y="0"/>
                </a:lnTo>
                <a:lnTo>
                  <a:pt x="7733822" y="7811942"/>
                </a:lnTo>
                <a:lnTo>
                  <a:pt x="0" y="781194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4774768" y="7076551"/>
            <a:ext cx="8738463" cy="488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1"/>
              </a:lnSpc>
            </a:pPr>
            <a:r>
              <a:rPr lang="en-US" sz="2907" u="sng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  <a:hlinkClick r:id="rId8" tooltip="https://github.com/nicolenavarrorojas/CultureGo"/>
              </a:rPr>
              <a:t>Enlace de GitHub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774768" y="7517039"/>
            <a:ext cx="8738463" cy="488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71"/>
              </a:lnSpc>
            </a:pPr>
            <a:r>
              <a:rPr lang="en-US" sz="2907" u="sng">
                <a:solidFill>
                  <a:srgbClr val="FFFFFF"/>
                </a:solidFill>
                <a:latin typeface="Bree Serif"/>
                <a:ea typeface="Bree Serif"/>
                <a:cs typeface="Bree Serif"/>
                <a:sym typeface="Bree Serif"/>
                <a:hlinkClick r:id="rId9" tooltip="https://drive.google.com/drive/folders/1prFhiU-zuJ8utc8j_USGXN2LaOIBCvQD?usp=drive_link"/>
              </a:rPr>
              <a:t>Enlace de Google Drive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DAHSlG6IoOQ</dc:identifier>
  <dcterms:modified xsi:type="dcterms:W3CDTF">2011-08-01T06:04:30Z</dcterms:modified>
  <cp:revision>1</cp:revision>
  <dc:title>CultureGo</dc:title>
</cp:coreProperties>
</file>